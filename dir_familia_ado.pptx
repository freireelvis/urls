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jpeg" /><Relationship Id="rId4" Type="http://schemas.openxmlformats.org/officeDocument/2006/relationships/image" Target="../media/image3.jpe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BDE9521-27E3-48E2-A7F3-72FE04239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911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034B227-2EAE-677A-ADD9-1069C7F27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4" y="293940"/>
            <a:ext cx="1676400" cy="1066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329ECB6-962F-E7A3-7596-2C2106113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75"/>
          <a:stretch>
            <a:fillRect/>
          </a:stretch>
        </p:blipFill>
        <p:spPr>
          <a:xfrm>
            <a:off x="6203155" y="1001082"/>
            <a:ext cx="5741225" cy="4855835"/>
          </a:xfrm>
          <a:prstGeom prst="roundRect">
            <a:avLst>
              <a:gd name="adj" fmla="val 16667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E2EF109-C4D2-D090-05DB-CAD764F48211}"/>
              </a:ext>
            </a:extLst>
          </p:cNvPr>
          <p:cNvSpPr txBox="1"/>
          <p:nvPr/>
        </p:nvSpPr>
        <p:spPr>
          <a:xfrm>
            <a:off x="121444" y="518179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b="1" dirty="0"/>
              <a:t>Participantes: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D5CA0F-DCE7-A6E0-DD7A-E09CEB995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20" y="2476261"/>
            <a:ext cx="5324504" cy="19452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BC780E4-276B-7117-AEDF-EF55199A99D7}"/>
              </a:ext>
            </a:extLst>
          </p:cNvPr>
          <p:cNvSpPr txBox="1"/>
          <p:nvPr/>
        </p:nvSpPr>
        <p:spPr>
          <a:xfrm>
            <a:off x="247620" y="247626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b="1" i="1" dirty="0"/>
              <a:t>Tema</a:t>
            </a:r>
            <a:r>
              <a:rPr lang="pt-PT" dirty="0"/>
              <a:t>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3A8D9B-5D5A-D7D1-90FF-E0F4E6ACBF81}"/>
              </a:ext>
            </a:extLst>
          </p:cNvPr>
          <p:cNvSpPr txBox="1"/>
          <p:nvPr/>
        </p:nvSpPr>
        <p:spPr>
          <a:xfrm rot="10800000" flipV="1">
            <a:off x="131027" y="1541497"/>
            <a:ext cx="583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b="1" dirty="0"/>
              <a:t>Área</a:t>
            </a:r>
            <a:r>
              <a:rPr lang="pt-PT" dirty="0"/>
              <a:t>: Direito</a:t>
            </a:r>
          </a:p>
          <a:p>
            <a:pPr algn="l"/>
            <a:r>
              <a:rPr lang="pt-PT" b="1" dirty="0"/>
              <a:t>Disciplina</a:t>
            </a:r>
            <a:r>
              <a:rPr lang="pt-PT" dirty="0"/>
              <a:t>: Direito de Família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CDA9B24-29A5-7034-0F72-9B6B46A59329}"/>
              </a:ext>
            </a:extLst>
          </p:cNvPr>
          <p:cNvSpPr txBox="1"/>
          <p:nvPr/>
        </p:nvSpPr>
        <p:spPr>
          <a:xfrm>
            <a:off x="2076420" y="239969"/>
            <a:ext cx="3495704" cy="5232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pt-PT" sz="2800" dirty="0">
                <a:solidFill>
                  <a:schemeClr val="bg1"/>
                </a:solidFill>
              </a:rPr>
              <a:t>Trabalho de grupo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FC8728-327D-1015-0A10-3E1B836B31D7}"/>
              </a:ext>
            </a:extLst>
          </p:cNvPr>
          <p:cNvSpPr txBox="1"/>
          <p:nvPr/>
        </p:nvSpPr>
        <p:spPr>
          <a:xfrm>
            <a:off x="131026" y="5487584"/>
            <a:ext cx="32027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1600" dirty="0"/>
              <a:t>● Elvis Freire</a:t>
            </a:r>
          </a:p>
          <a:p>
            <a:pPr algn="l"/>
            <a:r>
              <a:rPr lang="pt-PT" sz="1600" dirty="0"/>
              <a:t>● Evandra Rodrigues </a:t>
            </a:r>
          </a:p>
          <a:p>
            <a:pPr algn="l"/>
            <a:r>
              <a:rPr lang="pt-PT" sz="1600" dirty="0"/>
              <a:t>● Hermem Freire</a:t>
            </a:r>
          </a:p>
          <a:p>
            <a:pPr algn="l"/>
            <a:r>
              <a:rPr lang="pt-PT" sz="1600" dirty="0"/>
              <a:t>● </a:t>
            </a:r>
            <a:r>
              <a:rPr lang="pt-PT" sz="1600" dirty="0" err="1"/>
              <a:t>Marculino</a:t>
            </a:r>
            <a:r>
              <a:rPr lang="pt-PT" sz="1600" dirty="0"/>
              <a:t> Almeida</a:t>
            </a:r>
          </a:p>
          <a:p>
            <a:pPr algn="l"/>
            <a:r>
              <a:rPr lang="pt-PT" sz="1600" dirty="0"/>
              <a:t>● </a:t>
            </a:r>
            <a:r>
              <a:rPr lang="pt-PT" sz="1600"/>
              <a:t>Sofia Correia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269889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139278-AB5F-9ACB-1F77-1471AFCC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1F0BCE4-5A50-1A8A-5C4C-F484E37EFE30}"/>
              </a:ext>
            </a:extLst>
          </p:cNvPr>
          <p:cNvSpPr txBox="1"/>
          <p:nvPr/>
        </p:nvSpPr>
        <p:spPr>
          <a:xfrm>
            <a:off x="6250782" y="751344"/>
            <a:ext cx="4881563" cy="53553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PT" b="1" dirty="0"/>
              <a:t>A adoção em Cabo Verde é um instrumento jurídico essencial para a proteção de menores em situação de vulnerabilidade, assegurando-lhes o direito fundamental a uma família estável e afetiva. Este instituto cria um vínculo de filiação pleno, equiparado ao biológico, com efeitos pessoais e patrimoniais totais. O enquadramento legal assenta nos artigos 1917.º a 1934.º do Código Civil, no Estatuto da Criança e do Adolescente (ECA) e na Constituição da República, alinhando-se ainda a normas internacionais como a Convenção de Haia. O objetivo central é garantir o desenvolvimento integral do adotado, promovendo a igualdade filial e o cumprimento do dever estatal de proteção à família.</a:t>
            </a:r>
          </a:p>
        </p:txBody>
      </p:sp>
      <p:sp>
        <p:nvSpPr>
          <p:cNvPr id="3" name="Fluxograma: Atraso 2">
            <a:extLst>
              <a:ext uri="{FF2B5EF4-FFF2-40B4-BE49-F238E27FC236}">
                <a16:creationId xmlns:a16="http://schemas.microsoft.com/office/drawing/2014/main" id="{701BEF7F-1F92-6273-406F-08A3D1DCC3F1}"/>
              </a:ext>
            </a:extLst>
          </p:cNvPr>
          <p:cNvSpPr/>
          <p:nvPr/>
        </p:nvSpPr>
        <p:spPr>
          <a:xfrm>
            <a:off x="0" y="23812"/>
            <a:ext cx="4929188" cy="6858000"/>
          </a:xfrm>
          <a:prstGeom prst="flowChartDelay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Introdução </a:t>
            </a:r>
          </a:p>
        </p:txBody>
      </p:sp>
    </p:spTree>
    <p:extLst>
      <p:ext uri="{BB962C8B-B14F-4D97-AF65-F5344CB8AC3E}">
        <p14:creationId xmlns:p14="http://schemas.microsoft.com/office/powerpoint/2010/main" val="23588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uxograma: Atraso 2">
            <a:extLst>
              <a:ext uri="{FF2B5EF4-FFF2-40B4-BE49-F238E27FC236}">
                <a16:creationId xmlns:a16="http://schemas.microsoft.com/office/drawing/2014/main" id="{F566660D-19D5-05B3-8032-5DAEDC48D4F0}"/>
              </a:ext>
            </a:extLst>
          </p:cNvPr>
          <p:cNvSpPr/>
          <p:nvPr/>
        </p:nvSpPr>
        <p:spPr>
          <a:xfrm>
            <a:off x="0" y="0"/>
            <a:ext cx="4929188" cy="6858000"/>
          </a:xfrm>
          <a:prstGeom prst="flowChartDelay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Conceito e Enquadramento Jurídico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09256F-F99B-320E-755A-A4A2E228A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2F853DA-EE53-24AE-14D5-14D0B7FB7324}"/>
              </a:ext>
            </a:extLst>
          </p:cNvPr>
          <p:cNvSpPr txBox="1"/>
          <p:nvPr/>
        </p:nvSpPr>
        <p:spPr>
          <a:xfrm>
            <a:off x="6273234" y="789007"/>
            <a:ext cx="492918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2000" b="1" dirty="0"/>
              <a:t>A adoção em Cabo Verde é um vínculo jurídico de filiação que se estabelece independentemente de laços de sangue. Tem como finalidade primordial a proteção do superior interesse da criança e do adolescente, garantindo-lhes o desenvolvimento integral em um ambiente familiar estável. O instituto está ancorado na Constituição da República (</a:t>
            </a:r>
            <a:r>
              <a:rPr lang="pt-PT" sz="2000" b="1" dirty="0" err="1"/>
              <a:t>arts</a:t>
            </a:r>
            <a:r>
              <a:rPr lang="pt-PT" sz="2000" b="1" dirty="0"/>
              <a:t>. 74.º e 87.º) e é regulado detalhadamente nos artigos 1917.º a 1934.º do Código Civil, além do Estatuto da Criança e do Adolescente (ECA).</a:t>
            </a:r>
          </a:p>
        </p:txBody>
      </p:sp>
    </p:spTree>
    <p:extLst>
      <p:ext uri="{BB962C8B-B14F-4D97-AF65-F5344CB8AC3E}">
        <p14:creationId xmlns:p14="http://schemas.microsoft.com/office/powerpoint/2010/main" val="248029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Atraso 4">
            <a:extLst>
              <a:ext uri="{FF2B5EF4-FFF2-40B4-BE49-F238E27FC236}">
                <a16:creationId xmlns:a16="http://schemas.microsoft.com/office/drawing/2014/main" id="{935D92D0-5A6F-C4DE-5468-DEE01A69AD3D}"/>
              </a:ext>
            </a:extLst>
          </p:cNvPr>
          <p:cNvSpPr/>
          <p:nvPr/>
        </p:nvSpPr>
        <p:spPr>
          <a:xfrm>
            <a:off x="0" y="0"/>
            <a:ext cx="4929188" cy="6858000"/>
          </a:xfrm>
          <a:prstGeom prst="flowChartDela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Requisitos Pessoais dos Adotantes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81250A-7A76-862A-52E2-03961D62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53D16CA-0056-942C-284A-EC561D8D028E}"/>
              </a:ext>
            </a:extLst>
          </p:cNvPr>
          <p:cNvSpPr txBox="1"/>
          <p:nvPr/>
        </p:nvSpPr>
        <p:spPr>
          <a:xfrm>
            <a:off x="6232764" y="815489"/>
            <a:ext cx="49291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000" b="1" dirty="0"/>
              <a:t>Para adotar, os candidatos devem possuir capacidade civil plena e idade compreendida entre 25 e 60 anos. É obrigatório que haja uma diferença mínima de 16 anos entre o adotante e o adotando, visando simular uma relação parental biológica. Além da idade, exige-se idoneidade moral, social e psicológica, estabilidade familiar e condições econômicas suficientes para garantir o sustento e a educação do menor. Esta base legal encontra-se no </a:t>
            </a:r>
            <a:r>
              <a:rPr lang="pt-PT" sz="2000" b="1" dirty="0" err="1"/>
              <a:t>art</a:t>
            </a:r>
            <a:r>
              <a:rPr lang="pt-PT" sz="2000" b="1" dirty="0"/>
              <a:t>. 1922.º do Código Civil.</a:t>
            </a:r>
          </a:p>
        </p:txBody>
      </p:sp>
    </p:spTree>
    <p:extLst>
      <p:ext uri="{BB962C8B-B14F-4D97-AF65-F5344CB8AC3E}">
        <p14:creationId xmlns:p14="http://schemas.microsoft.com/office/powerpoint/2010/main" val="335294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Atraso 4">
            <a:extLst>
              <a:ext uri="{FF2B5EF4-FFF2-40B4-BE49-F238E27FC236}">
                <a16:creationId xmlns:a16="http://schemas.microsoft.com/office/drawing/2014/main" id="{E8F679BB-DE1F-88A9-4CB7-91FF5AE171A3}"/>
              </a:ext>
            </a:extLst>
          </p:cNvPr>
          <p:cNvSpPr/>
          <p:nvPr/>
        </p:nvSpPr>
        <p:spPr>
          <a:xfrm>
            <a:off x="0" y="0"/>
            <a:ext cx="4929188" cy="6858000"/>
          </a:xfrm>
          <a:prstGeom prst="flowChartDelay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Requisitos do Adotando e Adotabilidade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65B996-AD07-45D2-5B7A-16B5D2E2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10F8441-6317-4796-D3E0-EB64699289F3}"/>
              </a:ext>
            </a:extLst>
          </p:cNvPr>
          <p:cNvSpPr txBox="1"/>
          <p:nvPr/>
        </p:nvSpPr>
        <p:spPr>
          <a:xfrm>
            <a:off x="6257925" y="815215"/>
            <a:ext cx="492918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000" b="1" dirty="0"/>
              <a:t>Podem ser adotados menores não emancipados que se encontrem em situação de “adotabilidade”, como filhos de pais incógnitos, abandonados ou cujos pais biológicos tenham dado consentimento. O ECA também prevê a adoção em casos de perigo grave à segurança ou saúde do menor, ou quando os pais demonstrem manifesto desinteresse pelos vínculos afetivos por um período mínimo de seis meses. A decisão deve sempre representar uma vantagem real para o menor (</a:t>
            </a:r>
            <a:r>
              <a:rPr lang="pt-PT" sz="2000" b="1" dirty="0" err="1"/>
              <a:t>art</a:t>
            </a:r>
            <a:r>
              <a:rPr lang="pt-PT" sz="2000" b="1" dirty="0"/>
              <a:t>. 1923.º do CC e </a:t>
            </a:r>
            <a:r>
              <a:rPr lang="pt-PT" sz="2000" b="1" dirty="0" err="1"/>
              <a:t>art</a:t>
            </a:r>
            <a:r>
              <a:rPr lang="pt-PT" sz="2000" b="1" dirty="0"/>
              <a:t>. 166.º do ECA).</a:t>
            </a:r>
          </a:p>
        </p:txBody>
      </p:sp>
    </p:spTree>
    <p:extLst>
      <p:ext uri="{BB962C8B-B14F-4D97-AF65-F5344CB8AC3E}">
        <p14:creationId xmlns:p14="http://schemas.microsoft.com/office/powerpoint/2010/main" val="318356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Atraso 4">
            <a:extLst>
              <a:ext uri="{FF2B5EF4-FFF2-40B4-BE49-F238E27FC236}">
                <a16:creationId xmlns:a16="http://schemas.microsoft.com/office/drawing/2014/main" id="{D25F2CB5-2A99-8ED0-E8ED-ED699A3D7B4F}"/>
              </a:ext>
            </a:extLst>
          </p:cNvPr>
          <p:cNvSpPr/>
          <p:nvPr/>
        </p:nvSpPr>
        <p:spPr>
          <a:xfrm>
            <a:off x="4366" y="0"/>
            <a:ext cx="4929188" cy="6858000"/>
          </a:xfrm>
          <a:prstGeom prst="flowChartDelay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O Procedimento Judicial e Formal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752194-31F5-CFC0-DC35-2AACFFB7E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6" y="0"/>
            <a:ext cx="7346155" cy="6858000"/>
          </a:xfrm>
          <a:prstGeom prst="rect">
            <a:avLst/>
          </a:prstGeom>
        </p:spPr>
      </p:pic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178958E0-1DD7-5E7B-6BF6-3B9B829847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45929" y="815068"/>
            <a:ext cx="5051425" cy="5910263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pt-PT" sz="2000" b="1" dirty="0"/>
              <a:t>A adoção é constituída obrigatoriamente por sentença judicial após um processo rigoroso e secreto, que visa proteger a privacidade das partes. O Ministério Público intervém como fiscal da legalidade e defensor do menor. O processo inicia-se com a candidatura junto ao ICCA, seguida de um período de pré-adoção (acompanhamento) de até um ano, culminando na sentença definitiva que deve ser averbada no Registo Civil. As regras estão nos </a:t>
            </a:r>
            <a:r>
              <a:rPr lang="pt-PT" sz="2000" b="1" dirty="0" err="1"/>
              <a:t>arts</a:t>
            </a:r>
            <a:r>
              <a:rPr lang="pt-PT" sz="2000" b="1" dirty="0"/>
              <a:t>. 1924.º do CC e 165.º a 193.º do ECA.</a:t>
            </a:r>
          </a:p>
        </p:txBody>
      </p:sp>
    </p:spTree>
    <p:extLst>
      <p:ext uri="{BB962C8B-B14F-4D97-AF65-F5344CB8AC3E}">
        <p14:creationId xmlns:p14="http://schemas.microsoft.com/office/powerpoint/2010/main" val="308494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311E369-C611-994E-793B-F7578CB6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7" name="Fluxograma: Atraso 6">
            <a:extLst>
              <a:ext uri="{FF2B5EF4-FFF2-40B4-BE49-F238E27FC236}">
                <a16:creationId xmlns:a16="http://schemas.microsoft.com/office/drawing/2014/main" id="{B1F572D1-8764-5FD5-A0F3-829131B8B51F}"/>
              </a:ext>
            </a:extLst>
          </p:cNvPr>
          <p:cNvSpPr/>
          <p:nvPr/>
        </p:nvSpPr>
        <p:spPr>
          <a:xfrm>
            <a:off x="0" y="-1"/>
            <a:ext cx="4929188" cy="6858000"/>
          </a:xfrm>
          <a:prstGeom prst="flowChartDelay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Efeitos Pessoais e Familiares</a:t>
            </a:r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FAAE9528-FC18-510F-9507-812FAA495E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95232" y="804862"/>
            <a:ext cx="4694237" cy="52482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PT" sz="2000" b="1" dirty="0"/>
              <a:t>A sentença de adoção cria um vínculo de filiação pleno e irrevogável, extinguindo, via de regra, os laços jurídicos com a família biológica (exceto impedimentos matrimoniais). O adotado assume o apelido da família adotiva e integra-se nela com os mesmos direitos e deveres de um filho biológico, incluindo o dever de obediência e respeito. O poder paternal é integralmente transferido para os adotantes (</a:t>
            </a:r>
            <a:r>
              <a:rPr lang="pt-PT" sz="2000" b="1" dirty="0" err="1"/>
              <a:t>arts</a:t>
            </a:r>
            <a:r>
              <a:rPr lang="pt-PT" sz="2000" b="1" dirty="0"/>
              <a:t>. 1929.º a 1931.º do CC e </a:t>
            </a:r>
            <a:r>
              <a:rPr lang="pt-PT" sz="2000" b="1" dirty="0" err="1"/>
              <a:t>art</a:t>
            </a:r>
            <a:r>
              <a:rPr lang="pt-PT" sz="2000" b="1" dirty="0"/>
              <a:t>. 1809.º do CC).</a:t>
            </a:r>
          </a:p>
        </p:txBody>
      </p:sp>
    </p:spTree>
    <p:extLst>
      <p:ext uri="{BB962C8B-B14F-4D97-AF65-F5344CB8AC3E}">
        <p14:creationId xmlns:p14="http://schemas.microsoft.com/office/powerpoint/2010/main" val="322162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Atraso 4">
            <a:extLst>
              <a:ext uri="{FF2B5EF4-FFF2-40B4-BE49-F238E27FC236}">
                <a16:creationId xmlns:a16="http://schemas.microsoft.com/office/drawing/2014/main" id="{DC8EF639-6776-D508-EB85-24865AC709A3}"/>
              </a:ext>
            </a:extLst>
          </p:cNvPr>
          <p:cNvSpPr/>
          <p:nvPr/>
        </p:nvSpPr>
        <p:spPr>
          <a:xfrm>
            <a:off x="0" y="0"/>
            <a:ext cx="4929188" cy="6858000"/>
          </a:xfrm>
          <a:prstGeom prst="flowChartDelay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Efeitos Patrimoniais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6353F7-B281-3113-EA83-A414D88A1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E8A877D5-1B0C-56C3-0C10-258957001F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19825" y="804862"/>
            <a:ext cx="5114925" cy="52482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2000" b="1" dirty="0"/>
              <a:t>No plano patrimonial, a adoção garante ao adotado igualdade absoluta de direitos sucessórios, tornando-o herdeiro legítimo dos adotantes em paridade com eventuais filhos biológicos. Os adotantes assumem a obrigação de sustento (alimentos) e a administração dos bens do menor. Inversamente, os adotantes também passam a ter direitos sucessórios em relação ao adotado. Estes direitos estão previstos nos </a:t>
            </a:r>
            <a:r>
              <a:rPr lang="pt-PT" sz="2000" b="1" dirty="0" err="1"/>
              <a:t>arts</a:t>
            </a:r>
            <a:r>
              <a:rPr lang="pt-PT" sz="2000" b="1" dirty="0"/>
              <a:t>. 1929.º e 1931.º do Código Civil.</a:t>
            </a:r>
          </a:p>
        </p:txBody>
      </p:sp>
    </p:spTree>
    <p:extLst>
      <p:ext uri="{BB962C8B-B14F-4D97-AF65-F5344CB8AC3E}">
        <p14:creationId xmlns:p14="http://schemas.microsoft.com/office/powerpoint/2010/main" val="97740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xograma: Atraso 4">
            <a:extLst>
              <a:ext uri="{FF2B5EF4-FFF2-40B4-BE49-F238E27FC236}">
                <a16:creationId xmlns:a16="http://schemas.microsoft.com/office/drawing/2014/main" id="{2B3A0CEC-3071-403B-23CA-2B2A8CA1E7D6}"/>
              </a:ext>
            </a:extLst>
          </p:cNvPr>
          <p:cNvSpPr/>
          <p:nvPr/>
        </p:nvSpPr>
        <p:spPr>
          <a:xfrm>
            <a:off x="0" y="0"/>
            <a:ext cx="4929188" cy="6858000"/>
          </a:xfrm>
          <a:prstGeom prst="flowChartDelay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4000" dirty="0"/>
              <a:t>Adoção Internacional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CC1B07-8743-3E9B-A056-A9B7CD85A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0"/>
            <a:ext cx="7346155" cy="6858000"/>
          </a:xfrm>
          <a:prstGeom prst="rect">
            <a:avLst/>
          </a:prstGeom>
        </p:spPr>
      </p:pic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B2DBA660-D0F1-601E-44E5-A4A7884A38A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6013" y="836613"/>
            <a:ext cx="5114925" cy="54133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2000" b="1" dirty="0"/>
              <a:t>Regida pela Lei n.º 57/VIII/2014 e pela Convenção de Haia, a adoção internacional ocorre quando os adotantes residem em Estado diferente da criança. É pautada pelo princípio da subsidiariedade, ou seja, só deve ser percorrida quando esgotadas as possibilidades de integração em família nacional. A Procuradoria-Geral da República atua como a Autoridade Central responsável por coordenar esses processos e garantir a proteção contra o tráfico de crianças.</a:t>
            </a:r>
          </a:p>
        </p:txBody>
      </p:sp>
    </p:spTree>
    <p:extLst>
      <p:ext uri="{BB962C8B-B14F-4D97-AF65-F5344CB8AC3E}">
        <p14:creationId xmlns:p14="http://schemas.microsoft.com/office/powerpoint/2010/main" val="339567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ta: Inclinada para Baixo 1">
            <a:extLst>
              <a:ext uri="{FF2B5EF4-FFF2-40B4-BE49-F238E27FC236}">
                <a16:creationId xmlns:a16="http://schemas.microsoft.com/office/drawing/2014/main" id="{21D8A707-B74E-4113-A50C-A523CE709E51}"/>
              </a:ext>
            </a:extLst>
          </p:cNvPr>
          <p:cNvSpPr/>
          <p:nvPr/>
        </p:nvSpPr>
        <p:spPr>
          <a:xfrm>
            <a:off x="1891530" y="325382"/>
            <a:ext cx="8408939" cy="1358387"/>
          </a:xfrm>
          <a:prstGeom prst="ribbon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4AAF7E-89A3-2C3B-CBBA-D0BEF22ED82D}"/>
              </a:ext>
            </a:extLst>
          </p:cNvPr>
          <p:cNvSpPr txBox="1"/>
          <p:nvPr/>
        </p:nvSpPr>
        <p:spPr>
          <a:xfrm rot="10800000" flipV="1">
            <a:off x="4549863" y="728468"/>
            <a:ext cx="3092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4400" b="1" dirty="0">
                <a:solidFill>
                  <a:schemeClr val="bg1"/>
                </a:solidFill>
              </a:rPr>
              <a:t>Conclusão</a:t>
            </a:r>
            <a:r>
              <a:rPr lang="pt-PT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649BEE-6904-2F5A-1F6A-74DA472EB77F}"/>
              </a:ext>
            </a:extLst>
          </p:cNvPr>
          <p:cNvSpPr txBox="1"/>
          <p:nvPr/>
        </p:nvSpPr>
        <p:spPr>
          <a:xfrm>
            <a:off x="-41672" y="6642556"/>
            <a:ext cx="7963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PT" sz="800" dirty="0"/>
              <a:t>© 2026 Alunos 2° ano de Direito — Todos os direitos reservados.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F5BD642-B88F-B3C0-CB53-F5634ECC2273}"/>
              </a:ext>
            </a:extLst>
          </p:cNvPr>
          <p:cNvSpPr txBox="1"/>
          <p:nvPr/>
        </p:nvSpPr>
        <p:spPr>
          <a:xfrm>
            <a:off x="2545437" y="1869630"/>
            <a:ext cx="7101126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PT" sz="2000" b="1" dirty="0"/>
              <a:t>A adoção em Cabo Verde representa um ato de profunda humanidade e proteção. Através dela, o Estado e a sociedade garantem que nenhuma criança ou adolescente seja privado do direito fundamental de crescer num ambiente de amor, segurança e pertença. Ao equiparar plenamente os filhos adotivos aos biológicos em todos os seus direitos, o nosso ordenamento jurídico reconhece que os laços do afeto e do cuidado são tão legítimos e poderosos quanto os laços de sangue. Em última análise, a adoção é o mecanismo que transforma a vulnerabilidade em esperança, oferecendo a cada menor a oportunidade de reconstruir a sua história dentro de uma família que o escolheu e o protege.  </a:t>
            </a:r>
          </a:p>
        </p:txBody>
      </p:sp>
    </p:spTree>
    <p:extLst>
      <p:ext uri="{BB962C8B-B14F-4D97-AF65-F5344CB8AC3E}">
        <p14:creationId xmlns:p14="http://schemas.microsoft.com/office/powerpoint/2010/main" val="408766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95FAE8A-D037-E719-B7B8-103E63B8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B3A3716-B1F2-40C5-21C9-F38D0966A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305766"/>
            <a:ext cx="8128000" cy="42464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7725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2" baseType="lpstr">
      <vt:lpstr>Atlas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freireelvis335@gmail.com</dc:creator>
  <cp:lastModifiedBy>freireelvis335@gmail.com</cp:lastModifiedBy>
  <cp:revision>33</cp:revision>
  <dcterms:created xsi:type="dcterms:W3CDTF">2026-01-28T13:24:26Z</dcterms:created>
  <dcterms:modified xsi:type="dcterms:W3CDTF">2026-02-06T15:29:45Z</dcterms:modified>
</cp:coreProperties>
</file>