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2"/>
  </p:notesMasterIdLst>
  <p:sldIdLst>
    <p:sldId id="256" r:id="rId2"/>
    <p:sldId id="257" r:id="rId3"/>
    <p:sldId id="258" r:id="rId4"/>
    <p:sldId id="260" r:id="rId5"/>
    <p:sldId id="259"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presProps" Target="pres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notesMaster" Target="notesMasters/notesMaster1.xml" /><Relationship Id="rId2" Type="http://schemas.openxmlformats.org/officeDocument/2006/relationships/slide" Target="slides/slide1.xml" /><Relationship Id="rId16"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theme" Target="theme/theme1.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viewProps" Target="view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a:p>
        </p:txBody>
      </p:sp>
      <p:sp>
        <p:nvSpPr>
          <p:cNvPr id="3" name="Marcador de Posição d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C7E742-851E-F04B-82A8-75BFB5749B92}" type="datetimeFigureOut">
              <a:rPr lang="pt-PT" smtClean="0"/>
              <a:t>03/02/2026</a:t>
            </a:fld>
            <a:endParaRPr lang="pt-PT"/>
          </a:p>
        </p:txBody>
      </p:sp>
      <p:sp>
        <p:nvSpPr>
          <p:cNvPr id="4" name="Marcador de Posição da Imagem do Diapositivo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PT"/>
          </a:p>
        </p:txBody>
      </p:sp>
      <p:sp>
        <p:nvSpPr>
          <p:cNvPr id="5" name="Marcador de Posição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p>
        </p:txBody>
      </p:sp>
      <p:sp>
        <p:nvSpPr>
          <p:cNvPr id="6" name="Marcador de Posição do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a:p>
        </p:txBody>
      </p:sp>
      <p:sp>
        <p:nvSpPr>
          <p:cNvPr id="7" name="Marcador de Posição do Número do Diapositivo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682D63-222E-9149-9267-489EBAFF6D32}" type="slidenum">
              <a:rPr lang="pt-PT" smtClean="0"/>
              <a:t>‹nº›</a:t>
            </a:fld>
            <a:endParaRPr lang="pt-PT"/>
          </a:p>
        </p:txBody>
      </p:sp>
    </p:spTree>
    <p:extLst>
      <p:ext uri="{BB962C8B-B14F-4D97-AF65-F5344CB8AC3E}">
        <p14:creationId xmlns:p14="http://schemas.microsoft.com/office/powerpoint/2010/main" val="4281380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r>
              <a:rPr lang="pt-PT" dirty="0" err="1"/>
              <a:t>Hsjdjd</a:t>
            </a:r>
            <a:endParaRPr lang="pt-PT" dirty="0"/>
          </a:p>
        </p:txBody>
      </p:sp>
      <p:sp>
        <p:nvSpPr>
          <p:cNvPr id="4" name="Marcador de Posição do Número do Diapositivo 3"/>
          <p:cNvSpPr>
            <a:spLocks noGrp="1"/>
          </p:cNvSpPr>
          <p:nvPr>
            <p:ph type="sldNum" sz="quarter" idx="5"/>
          </p:nvPr>
        </p:nvSpPr>
        <p:spPr/>
        <p:txBody>
          <a:bodyPr/>
          <a:lstStyle/>
          <a:p>
            <a:fld id="{47682D63-222E-9149-9267-489EBAFF6D32}" type="slidenum">
              <a:rPr lang="pt-PT" smtClean="0"/>
              <a:t>1</a:t>
            </a:fld>
            <a:endParaRPr lang="pt-PT"/>
          </a:p>
        </p:txBody>
      </p:sp>
    </p:spTree>
    <p:extLst>
      <p:ext uri="{BB962C8B-B14F-4D97-AF65-F5344CB8AC3E}">
        <p14:creationId xmlns:p14="http://schemas.microsoft.com/office/powerpoint/2010/main" val="28792708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o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pt-PT"/>
              <a:t>Clique para editar o estilo de título do Modelo Global</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PT"/>
              <a:t>Clique para editar o estilo de subtítulo do Modelo Global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Objeto">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pt-PT"/>
              <a:t>Clique para editar o estilo de título do Modelo Global</a:t>
            </a:r>
            <a:endParaRPr lang="en-US" dirty="0"/>
          </a:p>
        </p:txBody>
      </p:sp>
      <p:sp>
        <p:nvSpPr>
          <p:cNvPr id="3" name="Content Placeholder 2"/>
          <p:cNvSpPr>
            <a:spLocks noGrp="1"/>
          </p:cNvSpPr>
          <p:nvPr>
            <p:ph idx="1"/>
          </p:nvPr>
        </p:nvSpPr>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cção">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pt-PT"/>
              <a:t>Clique para editar o estilo de título do Modelo Global</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PT"/>
              <a:t>Clique para editar os estilos do texto de Modelo Global</a:t>
            </a:r>
          </a:p>
        </p:txBody>
      </p:sp>
      <p:sp>
        <p:nvSpPr>
          <p:cNvPr id="4" name="Date Placeholder 3"/>
          <p:cNvSpPr>
            <a:spLocks noGrp="1"/>
          </p:cNvSpPr>
          <p:nvPr>
            <p:ph type="dt" sz="half" idx="10"/>
          </p:nvPr>
        </p:nvSpPr>
        <p:spPr/>
        <p:txBody>
          <a:bodyPr/>
          <a:lstStyle/>
          <a:p>
            <a:fld id="{B61BEF0D-F0BB-DE4B-95CE-6DB70DBA9567}" type="datetimeFigureOut">
              <a:rPr lang="en-US" dirty="0"/>
              <a:pPr/>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Conteúdo Dup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PT"/>
              <a:t>Clique para editar o estilo de título do Modelo Global</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‹nº›</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pt-PT"/>
              <a:t>Clique para editar o estilo de título do Modelo Global</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PT"/>
              <a:t>Clique para editar os estilos do texto de Modelo Global</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PT"/>
              <a:t>Clique para editar os estilos do texto de Modelo Global</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pt-PT"/>
              <a:t>Clique para editar o estilo de título do Modelo Global</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2/3/2026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pt-PT"/>
              <a:t>Clique para editar o estilo de título do Modelo Global</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pt-PT"/>
              <a:t>Clique para editar os estilos do texto de Modelo Global</a:t>
            </a:r>
          </a:p>
        </p:txBody>
      </p:sp>
      <p:sp>
        <p:nvSpPr>
          <p:cNvPr id="5" name="Date Placeholder 4"/>
          <p:cNvSpPr>
            <a:spLocks noGrp="1"/>
          </p:cNvSpPr>
          <p:nvPr>
            <p:ph type="dt" sz="half" idx="10"/>
          </p:nvPr>
        </p:nvSpPr>
        <p:spPr/>
        <p:txBody>
          <a:bodyPr/>
          <a:lstStyle/>
          <a:p>
            <a:fld id="{42A54C80-263E-416B-A8E0-580EDEADCBDC}" type="datetimeFigureOut">
              <a:rPr lang="en-US" dirty="0"/>
              <a:t>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‹nº›</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pt-PT"/>
              <a:t>Clique para editar o estilo de título do Modelo Global</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PT"/>
              <a:t>Clique no ícone para adicionar uma imagem</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PT"/>
              <a:t>Clique para editar os estilos do texto de Modelo Global</a:t>
            </a:r>
          </a:p>
        </p:txBody>
      </p:sp>
      <p:sp>
        <p:nvSpPr>
          <p:cNvPr id="5" name="Date Placeholder 4"/>
          <p:cNvSpPr>
            <a:spLocks noGrp="1"/>
          </p:cNvSpPr>
          <p:nvPr>
            <p:ph type="dt" sz="half" idx="10"/>
          </p:nvPr>
        </p:nvSpPr>
        <p:spPr/>
        <p:txBody>
          <a:bodyPr/>
          <a:lstStyle/>
          <a:p>
            <a:fld id="{B61BEF0D-F0BB-DE4B-95CE-6DB70DBA9567}" type="datetimeFigureOut">
              <a:rPr lang="en-US" dirty="0"/>
              <a:pPr/>
              <a:t>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e Legenda">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pt-PT"/>
              <a:t>Clique para editar o estilo de título do Modelo Global</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PT"/>
              <a:t>Clique para editar os estilos do texto de Modelo Global</a:t>
            </a:r>
          </a:p>
        </p:txBody>
      </p:sp>
      <p:sp>
        <p:nvSpPr>
          <p:cNvPr id="4" name="Date Placeholder 3"/>
          <p:cNvSpPr>
            <a:spLocks noGrp="1"/>
          </p:cNvSpPr>
          <p:nvPr>
            <p:ph type="dt" sz="half" idx="10"/>
          </p:nvPr>
        </p:nvSpPr>
        <p:spPr/>
        <p:txBody>
          <a:bodyPr/>
          <a:lstStyle/>
          <a:p>
            <a:fld id="{B61BEF0D-F0BB-DE4B-95CE-6DB70DBA9567}" type="datetimeFigureOut">
              <a:rPr lang="en-US" dirty="0"/>
              <a:pPr/>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çã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pt-PT"/>
              <a:t>Clique para editar o estilo de título do Modelo Global</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pt-PT"/>
              <a:t>Clique para editar os estilos do texto de Modelo Global</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PT"/>
              <a:t>Clique para editar os estilos do texto de Modelo Global</a:t>
            </a:r>
          </a:p>
        </p:txBody>
      </p:sp>
      <p:sp>
        <p:nvSpPr>
          <p:cNvPr id="4" name="Date Placeholder 3"/>
          <p:cNvSpPr>
            <a:spLocks noGrp="1"/>
          </p:cNvSpPr>
          <p:nvPr>
            <p:ph type="dt" sz="half" idx="10"/>
          </p:nvPr>
        </p:nvSpPr>
        <p:spPr/>
        <p:txBody>
          <a:bodyPr/>
          <a:lstStyle/>
          <a:p>
            <a:fld id="{B61BEF0D-F0BB-DE4B-95CE-6DB70DBA9567}" type="datetimeFigureOut">
              <a:rPr lang="en-US" dirty="0"/>
              <a:pPr/>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ão de Nom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pt-PT"/>
              <a:t>Clique para editar o estilo de título do Modelo Global</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PT"/>
              <a:t>Clique para editar os estilos do texto de Modelo Global</a:t>
            </a:r>
          </a:p>
        </p:txBody>
      </p:sp>
      <p:sp>
        <p:nvSpPr>
          <p:cNvPr id="4" name="Date Placeholder 3"/>
          <p:cNvSpPr>
            <a:spLocks noGrp="1"/>
          </p:cNvSpPr>
          <p:nvPr>
            <p:ph type="dt" sz="half" idx="10"/>
          </p:nvPr>
        </p:nvSpPr>
        <p:spPr/>
        <p:txBody>
          <a:bodyPr/>
          <a:lstStyle/>
          <a:p>
            <a:fld id="{B61BEF0D-F0BB-DE4B-95CE-6DB70DBA9567}" type="datetimeFigureOut">
              <a:rPr lang="en-US" dirty="0"/>
              <a:pPr/>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ão de Nome com Citação">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pt-PT"/>
              <a:t>Clique para editar o estilo de título do Modelo Global</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pt-PT"/>
              <a:t>Clique para editar os estilos do texto de Modelo Global</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PT"/>
              <a:t>Clique para editar os estilos do texto de Modelo Global</a:t>
            </a:r>
          </a:p>
        </p:txBody>
      </p:sp>
      <p:sp>
        <p:nvSpPr>
          <p:cNvPr id="4" name="Date Placeholder 3"/>
          <p:cNvSpPr>
            <a:spLocks noGrp="1"/>
          </p:cNvSpPr>
          <p:nvPr>
            <p:ph type="dt" sz="half" idx="10"/>
          </p:nvPr>
        </p:nvSpPr>
        <p:spPr/>
        <p:txBody>
          <a:bodyPr/>
          <a:lstStyle/>
          <a:p>
            <a:fld id="{B61BEF0D-F0BB-DE4B-95CE-6DB70DBA9567}" type="datetimeFigureOut">
              <a:rPr lang="en-US" dirty="0"/>
              <a:pPr/>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iro ou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pt-PT"/>
              <a:t>Clique para editar o estilo de título do Modelo Global</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pt-PT"/>
              <a:t>Clique para editar os estilos do texto de Modelo Global</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PT"/>
              <a:t>Clique para editar os estilos do texto de Modelo Global</a:t>
            </a:r>
          </a:p>
        </p:txBody>
      </p:sp>
      <p:sp>
        <p:nvSpPr>
          <p:cNvPr id="4" name="Date Placeholder 3"/>
          <p:cNvSpPr>
            <a:spLocks noGrp="1"/>
          </p:cNvSpPr>
          <p:nvPr>
            <p:ph type="dt" sz="half" idx="10"/>
          </p:nvPr>
        </p:nvSpPr>
        <p:spPr/>
        <p:txBody>
          <a:bodyPr/>
          <a:lstStyle/>
          <a:p>
            <a:fld id="{B61BEF0D-F0BB-DE4B-95CE-6DB70DBA9567}" type="datetimeFigureOut">
              <a:rPr lang="en-US" dirty="0"/>
              <a:pPr/>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PT"/>
              <a:t>Clique para editar o estilo de título do Modelo Global</a:t>
            </a:r>
            <a:endParaRPr lang="en-US" dirty="0"/>
          </a:p>
        </p:txBody>
      </p:sp>
      <p:sp>
        <p:nvSpPr>
          <p:cNvPr id="3" name="Vertical Text Placeholder 2"/>
          <p:cNvSpPr>
            <a:spLocks noGrp="1"/>
          </p:cNvSpPr>
          <p:nvPr>
            <p:ph type="body" orient="vert" idx="1"/>
          </p:nvPr>
        </p:nvSpPr>
        <p:spPr/>
        <p:txBody>
          <a:bodyPr vert="eaVert"/>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‹nº›</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e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pt-PT"/>
              <a:t>Clique para editar o estilo de título do Modelo Global</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theme" Target="../theme/theme1.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pt-PT"/>
              <a:t>Clique para editar o estilo de título do Modelo Global</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2/3/2026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 /><Relationship Id="rId2" Type="http://schemas.openxmlformats.org/officeDocument/2006/relationships/notesSlide" Target="../notesSlides/notesSlide1.xml" /><Relationship Id="rId1" Type="http://schemas.openxmlformats.org/officeDocument/2006/relationships/slideLayout" Target="../slideLayouts/slideLayout1.xml" /><Relationship Id="rId5" Type="http://schemas.openxmlformats.org/officeDocument/2006/relationships/image" Target="../media/image3.jpeg" /><Relationship Id="rId4" Type="http://schemas.openxmlformats.org/officeDocument/2006/relationships/image" Target="../media/image2.jpeg" /></Relationships>
</file>

<file path=ppt/slides/_rels/slide2.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3" Type="http://schemas.openxmlformats.org/officeDocument/2006/relationships/image" Target="../media/image1.jpeg" /><Relationship Id="rId2" Type="http://schemas.openxmlformats.org/officeDocument/2006/relationships/image" Target="../media/image4.jpeg"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aixaDeTexto 10">
            <a:extLst>
              <a:ext uri="{FF2B5EF4-FFF2-40B4-BE49-F238E27FC236}">
                <a16:creationId xmlns:a16="http://schemas.microsoft.com/office/drawing/2014/main" id="{E24F9F99-DF2E-15DF-9A34-E9E9B883CA20}"/>
              </a:ext>
            </a:extLst>
          </p:cNvPr>
          <p:cNvSpPr txBox="1"/>
          <p:nvPr/>
        </p:nvSpPr>
        <p:spPr>
          <a:xfrm>
            <a:off x="5193506" y="2514600"/>
            <a:ext cx="1828800" cy="1828800"/>
          </a:xfrm>
          <a:prstGeom prst="rect">
            <a:avLst/>
          </a:prstGeom>
          <a:noFill/>
        </p:spPr>
        <p:txBody>
          <a:bodyPr wrap="square" rtlCol="0">
            <a:spAutoFit/>
          </a:bodyPr>
          <a:lstStyle/>
          <a:p>
            <a:pPr algn="l"/>
            <a:endParaRPr lang="pt-PT"/>
          </a:p>
        </p:txBody>
      </p:sp>
      <p:pic>
        <p:nvPicPr>
          <p:cNvPr id="2" name="Imagem 1">
            <a:extLst>
              <a:ext uri="{FF2B5EF4-FFF2-40B4-BE49-F238E27FC236}">
                <a16:creationId xmlns:a16="http://schemas.microsoft.com/office/drawing/2014/main" id="{C76135E7-3FAB-4703-8015-28503A8BFD54}"/>
              </a:ext>
            </a:extLst>
          </p:cNvPr>
          <p:cNvPicPr>
            <a:picLocks noChangeAspect="1"/>
          </p:cNvPicPr>
          <p:nvPr/>
        </p:nvPicPr>
        <p:blipFill>
          <a:blip r:embed="rId3"/>
          <a:stretch>
            <a:fillRect/>
          </a:stretch>
        </p:blipFill>
        <p:spPr>
          <a:xfrm rot="16200000">
            <a:off x="2666999" y="-2666999"/>
            <a:ext cx="6858001" cy="12192000"/>
          </a:xfrm>
          <a:prstGeom prst="rect">
            <a:avLst/>
          </a:prstGeom>
        </p:spPr>
      </p:pic>
      <p:sp>
        <p:nvSpPr>
          <p:cNvPr id="4" name="CaixaDeTexto 3">
            <a:extLst>
              <a:ext uri="{FF2B5EF4-FFF2-40B4-BE49-F238E27FC236}">
                <a16:creationId xmlns:a16="http://schemas.microsoft.com/office/drawing/2014/main" id="{CC2C77E3-AB62-D50D-16BA-5C9353A2D678}"/>
              </a:ext>
            </a:extLst>
          </p:cNvPr>
          <p:cNvSpPr txBox="1"/>
          <p:nvPr/>
        </p:nvSpPr>
        <p:spPr>
          <a:xfrm>
            <a:off x="1654967" y="2587545"/>
            <a:ext cx="6375195" cy="1938992"/>
          </a:xfrm>
          <a:prstGeom prst="rect">
            <a:avLst/>
          </a:prstGeom>
          <a:noFill/>
        </p:spPr>
        <p:txBody>
          <a:bodyPr wrap="square" rtlCol="0">
            <a:spAutoFit/>
          </a:bodyPr>
          <a:lstStyle/>
          <a:p>
            <a:pPr algn="l"/>
            <a:r>
              <a:rPr lang="pt-PT" sz="6000" dirty="0">
                <a:solidFill>
                  <a:schemeClr val="accent3"/>
                </a:solidFill>
              </a:rPr>
              <a:t>DIREITOS HUMANOS</a:t>
            </a:r>
          </a:p>
        </p:txBody>
      </p:sp>
      <p:pic>
        <p:nvPicPr>
          <p:cNvPr id="3" name="Imagem 2">
            <a:extLst>
              <a:ext uri="{FF2B5EF4-FFF2-40B4-BE49-F238E27FC236}">
                <a16:creationId xmlns:a16="http://schemas.microsoft.com/office/drawing/2014/main" id="{600128D5-98FE-B246-5F07-3E2DF9FCA21B}"/>
              </a:ext>
            </a:extLst>
          </p:cNvPr>
          <p:cNvPicPr>
            <a:picLocks noChangeAspect="1"/>
          </p:cNvPicPr>
          <p:nvPr/>
        </p:nvPicPr>
        <p:blipFill>
          <a:blip r:embed="rId4"/>
          <a:stretch>
            <a:fillRect/>
          </a:stretch>
        </p:blipFill>
        <p:spPr>
          <a:xfrm>
            <a:off x="1654967" y="488363"/>
            <a:ext cx="3157538" cy="2074463"/>
          </a:xfrm>
          <a:prstGeom prst="rect">
            <a:avLst/>
          </a:prstGeom>
        </p:spPr>
      </p:pic>
      <p:sp>
        <p:nvSpPr>
          <p:cNvPr id="5" name="CaixaDeTexto 4">
            <a:extLst>
              <a:ext uri="{FF2B5EF4-FFF2-40B4-BE49-F238E27FC236}">
                <a16:creationId xmlns:a16="http://schemas.microsoft.com/office/drawing/2014/main" id="{70EE9C75-3DE8-36C5-33E1-51C09020456B}"/>
              </a:ext>
            </a:extLst>
          </p:cNvPr>
          <p:cNvSpPr txBox="1"/>
          <p:nvPr/>
        </p:nvSpPr>
        <p:spPr>
          <a:xfrm rot="10800000" flipV="1">
            <a:off x="50006" y="4908203"/>
            <a:ext cx="5724525" cy="461665"/>
          </a:xfrm>
          <a:prstGeom prst="rect">
            <a:avLst/>
          </a:prstGeom>
          <a:noFill/>
        </p:spPr>
        <p:txBody>
          <a:bodyPr wrap="square" rtlCol="0">
            <a:spAutoFit/>
          </a:bodyPr>
          <a:lstStyle/>
          <a:p>
            <a:pPr algn="l"/>
            <a:r>
              <a:rPr lang="pt-PT" sz="2400" dirty="0">
                <a:solidFill>
                  <a:schemeClr val="accent4">
                    <a:lumMod val="20000"/>
                    <a:lumOff val="80000"/>
                  </a:schemeClr>
                </a:solidFill>
              </a:rPr>
              <a:t>Disciplina: Direito Internacional Público</a:t>
            </a:r>
          </a:p>
        </p:txBody>
      </p:sp>
      <p:sp>
        <p:nvSpPr>
          <p:cNvPr id="6" name="CaixaDeTexto 5">
            <a:extLst>
              <a:ext uri="{FF2B5EF4-FFF2-40B4-BE49-F238E27FC236}">
                <a16:creationId xmlns:a16="http://schemas.microsoft.com/office/drawing/2014/main" id="{157A42BB-9A0E-6C18-9F91-67AC84E7F66A}"/>
              </a:ext>
            </a:extLst>
          </p:cNvPr>
          <p:cNvSpPr txBox="1"/>
          <p:nvPr/>
        </p:nvSpPr>
        <p:spPr>
          <a:xfrm>
            <a:off x="0" y="5503069"/>
            <a:ext cx="1828800" cy="369332"/>
          </a:xfrm>
          <a:prstGeom prst="rect">
            <a:avLst/>
          </a:prstGeom>
          <a:noFill/>
        </p:spPr>
        <p:txBody>
          <a:bodyPr wrap="square" rtlCol="0">
            <a:spAutoFit/>
          </a:bodyPr>
          <a:lstStyle/>
          <a:p>
            <a:pPr algn="l"/>
            <a:r>
              <a:rPr lang="pt-PT" b="1" dirty="0">
                <a:solidFill>
                  <a:schemeClr val="bg1"/>
                </a:solidFill>
              </a:rPr>
              <a:t>Participantes:</a:t>
            </a:r>
          </a:p>
        </p:txBody>
      </p:sp>
      <p:sp>
        <p:nvSpPr>
          <p:cNvPr id="7" name="CaixaDeTexto 6">
            <a:extLst>
              <a:ext uri="{FF2B5EF4-FFF2-40B4-BE49-F238E27FC236}">
                <a16:creationId xmlns:a16="http://schemas.microsoft.com/office/drawing/2014/main" id="{AD69630F-234F-3C28-8947-504BF400B211}"/>
              </a:ext>
            </a:extLst>
          </p:cNvPr>
          <p:cNvSpPr txBox="1"/>
          <p:nvPr/>
        </p:nvSpPr>
        <p:spPr>
          <a:xfrm>
            <a:off x="50006" y="5872401"/>
            <a:ext cx="3691414" cy="646331"/>
          </a:xfrm>
          <a:prstGeom prst="rect">
            <a:avLst/>
          </a:prstGeom>
          <a:noFill/>
        </p:spPr>
        <p:txBody>
          <a:bodyPr wrap="square" rtlCol="0">
            <a:spAutoFit/>
          </a:bodyPr>
          <a:lstStyle/>
          <a:p>
            <a:pPr algn="l"/>
            <a:r>
              <a:rPr lang="pt-PT" dirty="0">
                <a:solidFill>
                  <a:schemeClr val="bg1"/>
                </a:solidFill>
              </a:rPr>
              <a:t>● Elvis Freire</a:t>
            </a:r>
          </a:p>
          <a:p>
            <a:pPr algn="l"/>
            <a:r>
              <a:rPr lang="pt-PT" dirty="0">
                <a:solidFill>
                  <a:schemeClr val="bg1"/>
                </a:solidFill>
              </a:rPr>
              <a:t>● Aguinalda Monteiro</a:t>
            </a:r>
          </a:p>
        </p:txBody>
      </p:sp>
      <p:pic>
        <p:nvPicPr>
          <p:cNvPr id="8" name="Imagem 7">
            <a:extLst>
              <a:ext uri="{FF2B5EF4-FFF2-40B4-BE49-F238E27FC236}">
                <a16:creationId xmlns:a16="http://schemas.microsoft.com/office/drawing/2014/main" id="{A6AC1110-811D-3B3E-43E2-8C9B912E1E64}"/>
              </a:ext>
            </a:extLst>
          </p:cNvPr>
          <p:cNvPicPr>
            <a:picLocks noChangeAspect="1"/>
          </p:cNvPicPr>
          <p:nvPr/>
        </p:nvPicPr>
        <p:blipFill>
          <a:blip r:embed="rId5"/>
          <a:srcRect l="-955" b="-2260"/>
          <a:stretch>
            <a:fillRect/>
          </a:stretch>
        </p:blipFill>
        <p:spPr>
          <a:xfrm>
            <a:off x="6950871" y="414786"/>
            <a:ext cx="5033963" cy="614733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556999471"/>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m 4">
            <a:extLst>
              <a:ext uri="{FF2B5EF4-FFF2-40B4-BE49-F238E27FC236}">
                <a16:creationId xmlns:a16="http://schemas.microsoft.com/office/drawing/2014/main" id="{DD96F2F4-078B-7DDA-40D6-29FA4DBD1C1D}"/>
              </a:ext>
            </a:extLst>
          </p:cNvPr>
          <p:cNvPicPr>
            <a:picLocks noChangeAspect="1"/>
          </p:cNvPicPr>
          <p:nvPr/>
        </p:nvPicPr>
        <p:blipFill>
          <a:blip r:embed="rId2"/>
          <a:stretch>
            <a:fillRect/>
          </a:stretch>
        </p:blipFill>
        <p:spPr>
          <a:xfrm rot="16200000">
            <a:off x="2666999" y="-2666999"/>
            <a:ext cx="6858001" cy="12192000"/>
          </a:xfrm>
          <a:prstGeom prst="rect">
            <a:avLst/>
          </a:prstGeom>
        </p:spPr>
      </p:pic>
      <p:sp>
        <p:nvSpPr>
          <p:cNvPr id="2" name="CaixaDeTexto 1">
            <a:extLst>
              <a:ext uri="{FF2B5EF4-FFF2-40B4-BE49-F238E27FC236}">
                <a16:creationId xmlns:a16="http://schemas.microsoft.com/office/drawing/2014/main" id="{9D6874A1-F198-9B94-1328-49726F41CE43}"/>
              </a:ext>
            </a:extLst>
          </p:cNvPr>
          <p:cNvSpPr txBox="1"/>
          <p:nvPr/>
        </p:nvSpPr>
        <p:spPr>
          <a:xfrm rot="10800000" flipV="1">
            <a:off x="347664" y="392907"/>
            <a:ext cx="5022056" cy="584775"/>
          </a:xfrm>
          <a:prstGeom prst="rect">
            <a:avLst/>
          </a:prstGeom>
          <a:noFill/>
        </p:spPr>
        <p:txBody>
          <a:bodyPr wrap="square" rtlCol="0">
            <a:spAutoFit/>
          </a:bodyPr>
          <a:lstStyle/>
          <a:p>
            <a:pPr algn="l"/>
            <a:r>
              <a:rPr lang="pt-PT" sz="3200" dirty="0">
                <a:solidFill>
                  <a:schemeClr val="accent3"/>
                </a:solidFill>
              </a:rPr>
              <a:t>Introdução</a:t>
            </a:r>
          </a:p>
        </p:txBody>
      </p:sp>
      <p:sp>
        <p:nvSpPr>
          <p:cNvPr id="3" name="CaixaDeTexto 2">
            <a:extLst>
              <a:ext uri="{FF2B5EF4-FFF2-40B4-BE49-F238E27FC236}">
                <a16:creationId xmlns:a16="http://schemas.microsoft.com/office/drawing/2014/main" id="{DE40965F-458C-4FCE-430B-C29190F0168A}"/>
              </a:ext>
            </a:extLst>
          </p:cNvPr>
          <p:cNvSpPr txBox="1"/>
          <p:nvPr/>
        </p:nvSpPr>
        <p:spPr>
          <a:xfrm>
            <a:off x="5193506" y="2514600"/>
            <a:ext cx="1828800" cy="369332"/>
          </a:xfrm>
          <a:prstGeom prst="rect">
            <a:avLst/>
          </a:prstGeom>
          <a:noFill/>
        </p:spPr>
        <p:txBody>
          <a:bodyPr wrap="square" rtlCol="0">
            <a:spAutoFit/>
          </a:bodyPr>
          <a:lstStyle/>
          <a:p>
            <a:pPr algn="l"/>
            <a:endParaRPr lang="pt-PT" dirty="0">
              <a:solidFill>
                <a:schemeClr val="bg1"/>
              </a:solidFill>
            </a:endParaRPr>
          </a:p>
        </p:txBody>
      </p:sp>
      <p:sp>
        <p:nvSpPr>
          <p:cNvPr id="4" name="CaixaDeTexto 3">
            <a:extLst>
              <a:ext uri="{FF2B5EF4-FFF2-40B4-BE49-F238E27FC236}">
                <a16:creationId xmlns:a16="http://schemas.microsoft.com/office/drawing/2014/main" id="{B2FFF266-2BA2-A99A-72D9-55C5485E6161}"/>
              </a:ext>
            </a:extLst>
          </p:cNvPr>
          <p:cNvSpPr txBox="1"/>
          <p:nvPr/>
        </p:nvSpPr>
        <p:spPr>
          <a:xfrm>
            <a:off x="347664" y="977682"/>
            <a:ext cx="11606212" cy="5016758"/>
          </a:xfrm>
          <a:prstGeom prst="rect">
            <a:avLst/>
          </a:prstGeom>
          <a:noFill/>
        </p:spPr>
        <p:txBody>
          <a:bodyPr wrap="square" rtlCol="0" anchor="t">
            <a:spAutoFit/>
          </a:bodyPr>
          <a:lstStyle/>
          <a:p>
            <a:pPr algn="just"/>
            <a:r>
              <a:rPr lang="pt-PT" sz="2000" dirty="0">
                <a:solidFill>
                  <a:schemeClr val="bg1"/>
                </a:solidFill>
              </a:rPr>
              <a:t>Os Direitos Humanos constituem um dos pilares fundamentais do Direito Internacional Público contemporâneo, representando um conjunto de valores universais voltados à proteção da dignidade inerente a toda pessoa humana. A sua inserção no plano internacional reflete a evolução da consciência jurídica global pós-Segunda Guerra Mundial, marcada pela rejeição às atrocidades então cometidas e pela busca de um arcabouço normativo que transcendesse as fronteiras estatais. A relevância do tema justifica-se não apenas pela sua dimensão ética e humanitária, mas também pelo seu caráter jurídico vinculante, que impõe obrigações aos Estados e confere direitos aos indivíduos perante a comunidade internacional. Este trabalho tem como objetivo geral analisar a inserção, natureza e mecanismos de proteção dos Direitos Humanos no âmbito do Direito Internacional Público. Objetivos específicos incluem: Examinar o conceito e a evolução histórica dos Direitos Humanos; investigar a sua natureza jurídica e princípios fundamentais no ordenamento internacional; descrever os sistemas globais e regionais de proteção; avaliar os mecanismos de garantia e fiscalização; discutir a responsabilidade internacional dos Estados por violações; e identificar os desafios contemporâneos à sua efetivação. A metodologia adotada é qualitativa, baseada em revisão bibliográfica de doutrina especializada, análise de tratados e documentos internacionais, e estudo de casos emblemáticos da jurisprudência internacional.</a:t>
            </a:r>
          </a:p>
        </p:txBody>
      </p:sp>
    </p:spTree>
    <p:extLst>
      <p:ext uri="{BB962C8B-B14F-4D97-AF65-F5344CB8AC3E}">
        <p14:creationId xmlns:p14="http://schemas.microsoft.com/office/powerpoint/2010/main" val="341639144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3FC255-1ACB-4D1B-C73A-5E6FEDD9297A}"/>
              </a:ext>
            </a:extLst>
          </p:cNvPr>
          <p:cNvSpPr>
            <a:spLocks noGrp="1"/>
          </p:cNvSpPr>
          <p:nvPr>
            <p:ph type="title"/>
          </p:nvPr>
        </p:nvSpPr>
        <p:spPr/>
        <p:txBody>
          <a:bodyPr/>
          <a:lstStyle/>
          <a:p>
            <a:endParaRPr lang="pt-PT"/>
          </a:p>
        </p:txBody>
      </p:sp>
      <p:pic>
        <p:nvPicPr>
          <p:cNvPr id="10" name="Marcador de Posição de Conteúdo 9">
            <a:extLst>
              <a:ext uri="{FF2B5EF4-FFF2-40B4-BE49-F238E27FC236}">
                <a16:creationId xmlns:a16="http://schemas.microsoft.com/office/drawing/2014/main" id="{B28CA140-A668-A059-3286-3BA35CA6AAEB}"/>
              </a:ext>
            </a:extLst>
          </p:cNvPr>
          <p:cNvPicPr>
            <a:picLocks noGrp="1" noChangeAspect="1"/>
          </p:cNvPicPr>
          <p:nvPr>
            <p:ph idx="1"/>
          </p:nvPr>
        </p:nvPicPr>
        <p:blipFill>
          <a:blip r:embed="rId2"/>
          <a:stretch>
            <a:fillRect/>
          </a:stretch>
        </p:blipFill>
        <p:spPr>
          <a:xfrm>
            <a:off x="4005660" y="2160588"/>
            <a:ext cx="1940718" cy="3881437"/>
          </a:xfrm>
          <a:prstGeom prst="rect">
            <a:avLst/>
          </a:prstGeom>
        </p:spPr>
      </p:pic>
      <p:pic>
        <p:nvPicPr>
          <p:cNvPr id="5" name="Imagem 4">
            <a:extLst>
              <a:ext uri="{FF2B5EF4-FFF2-40B4-BE49-F238E27FC236}">
                <a16:creationId xmlns:a16="http://schemas.microsoft.com/office/drawing/2014/main" id="{8FBF94B8-AA58-D714-44E1-4AD8084AF5CB}"/>
              </a:ext>
            </a:extLst>
          </p:cNvPr>
          <p:cNvPicPr>
            <a:picLocks noChangeAspect="1"/>
          </p:cNvPicPr>
          <p:nvPr/>
        </p:nvPicPr>
        <p:blipFill>
          <a:blip r:embed="rId3"/>
          <a:stretch>
            <a:fillRect/>
          </a:stretch>
        </p:blipFill>
        <p:spPr>
          <a:xfrm rot="16200000">
            <a:off x="2666998" y="-2667001"/>
            <a:ext cx="6858001" cy="12192000"/>
          </a:xfrm>
          <a:prstGeom prst="rect">
            <a:avLst/>
          </a:prstGeom>
        </p:spPr>
      </p:pic>
      <p:sp>
        <p:nvSpPr>
          <p:cNvPr id="7" name="CaixaDeTexto 6">
            <a:extLst>
              <a:ext uri="{FF2B5EF4-FFF2-40B4-BE49-F238E27FC236}">
                <a16:creationId xmlns:a16="http://schemas.microsoft.com/office/drawing/2014/main" id="{4FD6C596-F494-157E-6B38-6CFA34D4C36D}"/>
              </a:ext>
            </a:extLst>
          </p:cNvPr>
          <p:cNvSpPr txBox="1"/>
          <p:nvPr/>
        </p:nvSpPr>
        <p:spPr>
          <a:xfrm rot="10800000" flipV="1">
            <a:off x="292894" y="202118"/>
            <a:ext cx="7212805" cy="584775"/>
          </a:xfrm>
          <a:prstGeom prst="rect">
            <a:avLst/>
          </a:prstGeom>
          <a:noFill/>
        </p:spPr>
        <p:txBody>
          <a:bodyPr wrap="square" rtlCol="0">
            <a:spAutoFit/>
          </a:bodyPr>
          <a:lstStyle/>
          <a:p>
            <a:pPr algn="l"/>
            <a:r>
              <a:rPr lang="pt-PT" sz="3200" dirty="0">
                <a:solidFill>
                  <a:schemeClr val="accent3"/>
                </a:solidFill>
              </a:rPr>
              <a:t>Conceito de Direitos Humanos</a:t>
            </a:r>
          </a:p>
        </p:txBody>
      </p:sp>
      <p:sp>
        <p:nvSpPr>
          <p:cNvPr id="9" name="CaixaDeTexto 8">
            <a:extLst>
              <a:ext uri="{FF2B5EF4-FFF2-40B4-BE49-F238E27FC236}">
                <a16:creationId xmlns:a16="http://schemas.microsoft.com/office/drawing/2014/main" id="{2081E60B-6D00-DF54-DC27-9C876076FA1F}"/>
              </a:ext>
            </a:extLst>
          </p:cNvPr>
          <p:cNvSpPr txBox="1"/>
          <p:nvPr/>
        </p:nvSpPr>
        <p:spPr>
          <a:xfrm>
            <a:off x="292893" y="816638"/>
            <a:ext cx="11606212" cy="3170099"/>
          </a:xfrm>
          <a:prstGeom prst="rect">
            <a:avLst/>
          </a:prstGeom>
          <a:noFill/>
        </p:spPr>
        <p:txBody>
          <a:bodyPr wrap="square" rtlCol="0" anchor="t">
            <a:spAutoFit/>
          </a:bodyPr>
          <a:lstStyle/>
          <a:p>
            <a:pPr algn="just"/>
            <a:r>
              <a:rPr lang="pt-PT" sz="2000">
                <a:solidFill>
                  <a:schemeClr val="bg1"/>
                </a:solidFill>
              </a:rPr>
              <a:t>Direitos Humanos podem ser definidos como um conjunto de direitos e liberdades fundamentais, inerentes a todos os seres humanos, independentemente de nacionalidade, sexo, origem étnica, religião, ou qualquer outra condição. São universais, inalienáveis, indivisíveis e interdependentes. Os seus fundamentos repousam em valores como a dignidade, a liberdade, a igualdade e a justiça, sendo frequentemente associados a instrumentos normativos internacionais que os positivam e garantem. </a:t>
            </a:r>
          </a:p>
          <a:p>
            <a:pPr algn="just"/>
            <a:r>
              <a:rPr lang="pt-PT" sz="2000">
                <a:solidFill>
                  <a:schemeClr val="bg1"/>
                </a:solidFill>
              </a:rPr>
              <a:t>
Os direitos humanos possuem como característica fundamental o princípio da dignidade da pessoa humana. Ou seja, que toda e qualquer pessoa tem o direito de ter as condições mínimas para levar uma vida digna.</a:t>
            </a:r>
            <a:endParaRPr lang="pt-PT" sz="2000" dirty="0">
              <a:solidFill>
                <a:schemeClr val="bg1"/>
              </a:solidFill>
            </a:endParaRPr>
          </a:p>
        </p:txBody>
      </p:sp>
    </p:spTree>
    <p:extLst>
      <p:ext uri="{BB962C8B-B14F-4D97-AF65-F5344CB8AC3E}">
        <p14:creationId xmlns:p14="http://schemas.microsoft.com/office/powerpoint/2010/main" val="419630441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m 4">
            <a:extLst>
              <a:ext uri="{FF2B5EF4-FFF2-40B4-BE49-F238E27FC236}">
                <a16:creationId xmlns:a16="http://schemas.microsoft.com/office/drawing/2014/main" id="{B5CCC9AF-35CE-7B66-F3CB-4B314AC8132B}"/>
              </a:ext>
            </a:extLst>
          </p:cNvPr>
          <p:cNvPicPr>
            <a:picLocks noChangeAspect="1"/>
          </p:cNvPicPr>
          <p:nvPr/>
        </p:nvPicPr>
        <p:blipFill>
          <a:blip r:embed="rId2"/>
          <a:stretch>
            <a:fillRect/>
          </a:stretch>
        </p:blipFill>
        <p:spPr>
          <a:xfrm rot="16200000">
            <a:off x="2666998" y="-2667001"/>
            <a:ext cx="6858001" cy="12192000"/>
          </a:xfrm>
          <a:prstGeom prst="rect">
            <a:avLst/>
          </a:prstGeom>
        </p:spPr>
      </p:pic>
      <p:sp>
        <p:nvSpPr>
          <p:cNvPr id="7" name="CaixaDeTexto 6">
            <a:extLst>
              <a:ext uri="{FF2B5EF4-FFF2-40B4-BE49-F238E27FC236}">
                <a16:creationId xmlns:a16="http://schemas.microsoft.com/office/drawing/2014/main" id="{7DB2ADCE-8DFD-0AE4-E268-7F0D8C7B913F}"/>
              </a:ext>
            </a:extLst>
          </p:cNvPr>
          <p:cNvSpPr txBox="1"/>
          <p:nvPr/>
        </p:nvSpPr>
        <p:spPr>
          <a:xfrm rot="10800000" flipV="1">
            <a:off x="292892" y="336305"/>
            <a:ext cx="10232231" cy="584775"/>
          </a:xfrm>
          <a:prstGeom prst="rect">
            <a:avLst/>
          </a:prstGeom>
          <a:noFill/>
        </p:spPr>
        <p:txBody>
          <a:bodyPr wrap="square" rtlCol="0">
            <a:spAutoFit/>
          </a:bodyPr>
          <a:lstStyle/>
          <a:p>
            <a:pPr algn="l"/>
            <a:r>
              <a:rPr lang="pt-PT" sz="3200" dirty="0">
                <a:solidFill>
                  <a:schemeClr val="accent3"/>
                </a:solidFill>
              </a:rPr>
              <a:t>Declaração Universal dos Direitos Humanos</a:t>
            </a:r>
          </a:p>
        </p:txBody>
      </p:sp>
      <p:sp>
        <p:nvSpPr>
          <p:cNvPr id="9" name="CaixaDeTexto 8">
            <a:extLst>
              <a:ext uri="{FF2B5EF4-FFF2-40B4-BE49-F238E27FC236}">
                <a16:creationId xmlns:a16="http://schemas.microsoft.com/office/drawing/2014/main" id="{CAE27CAE-A806-B24B-6981-F82725E39D74}"/>
              </a:ext>
            </a:extLst>
          </p:cNvPr>
          <p:cNvSpPr txBox="1"/>
          <p:nvPr/>
        </p:nvSpPr>
        <p:spPr>
          <a:xfrm>
            <a:off x="292892" y="1027218"/>
            <a:ext cx="11606212" cy="2862322"/>
          </a:xfrm>
          <a:prstGeom prst="rect">
            <a:avLst/>
          </a:prstGeom>
          <a:noFill/>
        </p:spPr>
        <p:txBody>
          <a:bodyPr wrap="square" rtlCol="0" anchor="t">
            <a:spAutoFit/>
          </a:bodyPr>
          <a:lstStyle/>
          <a:p>
            <a:pPr algn="just"/>
            <a:r>
              <a:rPr lang="pt-PT" sz="2000" dirty="0">
                <a:solidFill>
                  <a:schemeClr val="bg1"/>
                </a:solidFill>
              </a:rPr>
              <a:t>Adotada pela Assembleia Geral da ONU em 10 de dezembro de 1948, a Declaração Universal é o documento basilar do direito internacional dos direitos humanos. Embora inicialmente uma resolução sem força vinculante direta, adquiriu status de direito consuetudinário internacional e serviu de fundamento para toda a arquitetura normativa subsequente, incluindo os dois Pactos Internacionais de 1966. </a:t>
            </a:r>
          </a:p>
          <a:p>
            <a:pPr algn="just"/>
            <a:r>
              <a:rPr lang="pt-PT" sz="2000" dirty="0">
                <a:solidFill>
                  <a:schemeClr val="bg1"/>
                </a:solidFill>
              </a:rPr>
              <a:t>Ela enumera um catálogo abrangente de direitos civis, políticos, econômicos, sociais e culturais, afirmando a sua universalidade. Com a promulgação da Declaração Universal dos Direitos Humanos (1948), o caráter universal dos direitos humanos foi estabelecido, protegendo a condição humana e os direitos fundamentais de todos, sem exceção.</a:t>
            </a:r>
          </a:p>
        </p:txBody>
      </p:sp>
    </p:spTree>
    <p:extLst>
      <p:ext uri="{BB962C8B-B14F-4D97-AF65-F5344CB8AC3E}">
        <p14:creationId xmlns:p14="http://schemas.microsoft.com/office/powerpoint/2010/main" val="3280252921"/>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m 4">
            <a:extLst>
              <a:ext uri="{FF2B5EF4-FFF2-40B4-BE49-F238E27FC236}">
                <a16:creationId xmlns:a16="http://schemas.microsoft.com/office/drawing/2014/main" id="{0B5B94BB-3470-A0FB-7165-29CF960ECAC0}"/>
              </a:ext>
            </a:extLst>
          </p:cNvPr>
          <p:cNvPicPr>
            <a:picLocks noChangeAspect="1"/>
          </p:cNvPicPr>
          <p:nvPr/>
        </p:nvPicPr>
        <p:blipFill>
          <a:blip r:embed="rId2"/>
          <a:stretch>
            <a:fillRect/>
          </a:stretch>
        </p:blipFill>
        <p:spPr>
          <a:xfrm rot="16200000">
            <a:off x="2666998" y="-2667001"/>
            <a:ext cx="6858001" cy="12192000"/>
          </a:xfrm>
          <a:prstGeom prst="rect">
            <a:avLst/>
          </a:prstGeom>
        </p:spPr>
      </p:pic>
      <p:sp>
        <p:nvSpPr>
          <p:cNvPr id="7" name="CaixaDeTexto 6">
            <a:extLst>
              <a:ext uri="{FF2B5EF4-FFF2-40B4-BE49-F238E27FC236}">
                <a16:creationId xmlns:a16="http://schemas.microsoft.com/office/drawing/2014/main" id="{74A95542-E476-ED1D-3906-422D139E4665}"/>
              </a:ext>
            </a:extLst>
          </p:cNvPr>
          <p:cNvSpPr txBox="1"/>
          <p:nvPr/>
        </p:nvSpPr>
        <p:spPr>
          <a:xfrm rot="10800000" flipV="1">
            <a:off x="102393" y="132052"/>
            <a:ext cx="10232231" cy="584775"/>
          </a:xfrm>
          <a:prstGeom prst="rect">
            <a:avLst/>
          </a:prstGeom>
          <a:noFill/>
        </p:spPr>
        <p:txBody>
          <a:bodyPr wrap="square" rtlCol="0">
            <a:spAutoFit/>
          </a:bodyPr>
          <a:lstStyle/>
          <a:p>
            <a:pPr algn="l"/>
            <a:r>
              <a:rPr lang="pt-PT" sz="3200" dirty="0">
                <a:solidFill>
                  <a:schemeClr val="accent3"/>
                </a:solidFill>
              </a:rPr>
              <a:t>Evolução histórica dos direitos humanos</a:t>
            </a:r>
          </a:p>
        </p:txBody>
      </p:sp>
      <p:sp>
        <p:nvSpPr>
          <p:cNvPr id="13" name="CaixaDeTexto 12">
            <a:extLst>
              <a:ext uri="{FF2B5EF4-FFF2-40B4-BE49-F238E27FC236}">
                <a16:creationId xmlns:a16="http://schemas.microsoft.com/office/drawing/2014/main" id="{34F98271-0C3B-E835-AA05-470BD9DEB9D7}"/>
              </a:ext>
            </a:extLst>
          </p:cNvPr>
          <p:cNvSpPr txBox="1"/>
          <p:nvPr/>
        </p:nvSpPr>
        <p:spPr>
          <a:xfrm>
            <a:off x="292893" y="816638"/>
            <a:ext cx="11606212" cy="5324535"/>
          </a:xfrm>
          <a:prstGeom prst="rect">
            <a:avLst/>
          </a:prstGeom>
          <a:noFill/>
        </p:spPr>
        <p:txBody>
          <a:bodyPr wrap="square" rtlCol="0" anchor="t">
            <a:spAutoFit/>
          </a:bodyPr>
          <a:lstStyle/>
          <a:p>
            <a:pPr algn="just"/>
            <a:r>
              <a:rPr lang="pt-PT" sz="2000" dirty="0">
                <a:solidFill>
                  <a:schemeClr val="bg1"/>
                </a:solidFill>
              </a:rPr>
              <a:t>A noção de direitos fundamentais acompanha a história da humanidade, mas a sua sistematização e reconhecimento como categoria jurídica internacional é um fenômeno relativamente recente.</a:t>
            </a:r>
          </a:p>
          <a:p>
            <a:pPr algn="just"/>
            <a:r>
              <a:rPr lang="pt-PT" sz="2000" dirty="0">
                <a:solidFill>
                  <a:schemeClr val="bg1"/>
                </a:solidFill>
              </a:rPr>
              <a:t>
• </a:t>
            </a:r>
            <a:r>
              <a:rPr lang="pt-PT" sz="2000" dirty="0">
                <a:solidFill>
                  <a:schemeClr val="accent3"/>
                </a:solidFill>
              </a:rPr>
              <a:t>Direitos Humanos na Antiguidade e Idade</a:t>
            </a:r>
            <a:r>
              <a:rPr lang="pt-PT" sz="2000" dirty="0">
                <a:solidFill>
                  <a:schemeClr val="bg1"/>
                </a:solidFill>
              </a:rPr>
              <a:t> </a:t>
            </a:r>
            <a:r>
              <a:rPr lang="pt-PT" sz="2000" dirty="0">
                <a:solidFill>
                  <a:schemeClr val="accent3"/>
                </a:solidFill>
              </a:rPr>
              <a:t>Média</a:t>
            </a:r>
            <a:r>
              <a:rPr lang="pt-PT" sz="2000" dirty="0">
                <a:solidFill>
                  <a:schemeClr val="bg1"/>
                </a:solidFill>
              </a:rPr>
              <a:t>: Encontram-se precursores em códigos como o de </a:t>
            </a:r>
            <a:r>
              <a:rPr lang="pt-PT" sz="2000" dirty="0" err="1">
                <a:solidFill>
                  <a:schemeClr val="bg1"/>
                </a:solidFill>
              </a:rPr>
              <a:t>Hamurábi</a:t>
            </a:r>
            <a:r>
              <a:rPr lang="pt-PT" sz="2000" dirty="0">
                <a:solidFill>
                  <a:schemeClr val="bg1"/>
                </a:solidFill>
              </a:rPr>
              <a:t> e em filosofias que discutiam a lei natural e a dignidade humana (estoicismo, cristianismo).</a:t>
            </a:r>
          </a:p>
          <a:p>
            <a:pPr algn="just"/>
            <a:r>
              <a:rPr lang="pt-PT" sz="2000" dirty="0">
                <a:solidFill>
                  <a:schemeClr val="bg1"/>
                </a:solidFill>
              </a:rPr>
              <a:t>
• </a:t>
            </a:r>
            <a:r>
              <a:rPr lang="pt-PT" sz="2000" dirty="0">
                <a:solidFill>
                  <a:schemeClr val="accent3"/>
                </a:solidFill>
              </a:rPr>
              <a:t>Direitos</a:t>
            </a:r>
            <a:r>
              <a:rPr lang="pt-PT" sz="2000" dirty="0">
                <a:solidFill>
                  <a:schemeClr val="bg1"/>
                </a:solidFill>
              </a:rPr>
              <a:t> </a:t>
            </a:r>
            <a:r>
              <a:rPr lang="pt-PT" sz="2000" dirty="0">
                <a:solidFill>
                  <a:schemeClr val="accent3"/>
                </a:solidFill>
              </a:rPr>
              <a:t>Humanos na Idade Moderna</a:t>
            </a:r>
            <a:r>
              <a:rPr lang="pt-PT" sz="2000" dirty="0">
                <a:solidFill>
                  <a:schemeClr val="bg1"/>
                </a:solidFill>
              </a:rPr>
              <a:t>: Marcada pelo contratualismo (Hobbes, Locke, Rousseau) e por documentos como a Magna Carta (1215), a </a:t>
            </a:r>
            <a:r>
              <a:rPr lang="pt-PT" sz="2000" dirty="0" err="1">
                <a:solidFill>
                  <a:schemeClr val="bg1"/>
                </a:solidFill>
              </a:rPr>
              <a:t>Petition</a:t>
            </a:r>
            <a:r>
              <a:rPr lang="pt-PT" sz="2000" dirty="0">
                <a:solidFill>
                  <a:schemeClr val="bg1"/>
                </a:solidFill>
              </a:rPr>
              <a:t> </a:t>
            </a:r>
            <a:r>
              <a:rPr lang="pt-PT" sz="2000" dirty="0" err="1">
                <a:solidFill>
                  <a:schemeClr val="bg1"/>
                </a:solidFill>
              </a:rPr>
              <a:t>of</a:t>
            </a:r>
            <a:r>
              <a:rPr lang="pt-PT" sz="2000" dirty="0">
                <a:solidFill>
                  <a:schemeClr val="bg1"/>
                </a:solidFill>
              </a:rPr>
              <a:t> </a:t>
            </a:r>
            <a:r>
              <a:rPr lang="pt-PT" sz="2000" dirty="0" err="1">
                <a:solidFill>
                  <a:schemeClr val="bg1"/>
                </a:solidFill>
              </a:rPr>
              <a:t>Rights</a:t>
            </a:r>
            <a:r>
              <a:rPr lang="pt-PT" sz="2000" dirty="0">
                <a:solidFill>
                  <a:schemeClr val="bg1"/>
                </a:solidFill>
              </a:rPr>
              <a:t> (1628) e, sobretudo, as revoluções Americana e Francesa, que consagraram declarações de direitos (Declaração de Independência dos EUA, 1776; Declaração dos Direitos do Homem e do Cidadão, 1789).
</a:t>
            </a:r>
          </a:p>
          <a:p>
            <a:pPr algn="just"/>
            <a:r>
              <a:rPr lang="pt-PT" sz="2000" dirty="0">
                <a:solidFill>
                  <a:schemeClr val="bg1"/>
                </a:solidFill>
              </a:rPr>
              <a:t>• </a:t>
            </a:r>
            <a:r>
              <a:rPr lang="pt-PT" sz="2000" dirty="0">
                <a:solidFill>
                  <a:schemeClr val="accent3"/>
                </a:solidFill>
              </a:rPr>
              <a:t>O</a:t>
            </a:r>
            <a:r>
              <a:rPr lang="pt-PT" sz="2000" dirty="0">
                <a:solidFill>
                  <a:schemeClr val="bg1"/>
                </a:solidFill>
              </a:rPr>
              <a:t> </a:t>
            </a:r>
            <a:r>
              <a:rPr lang="pt-PT" sz="2000" dirty="0">
                <a:solidFill>
                  <a:schemeClr val="accent3"/>
                </a:solidFill>
              </a:rPr>
              <a:t>surgimento</a:t>
            </a:r>
            <a:r>
              <a:rPr lang="pt-PT" sz="2000" dirty="0">
                <a:solidFill>
                  <a:schemeClr val="bg1"/>
                </a:solidFill>
              </a:rPr>
              <a:t> </a:t>
            </a:r>
            <a:r>
              <a:rPr lang="pt-PT" sz="2000" dirty="0">
                <a:solidFill>
                  <a:schemeClr val="accent3"/>
                </a:solidFill>
              </a:rPr>
              <a:t>do</a:t>
            </a:r>
            <a:r>
              <a:rPr lang="pt-PT" sz="2000" dirty="0">
                <a:solidFill>
                  <a:schemeClr val="bg1"/>
                </a:solidFill>
              </a:rPr>
              <a:t> </a:t>
            </a:r>
            <a:r>
              <a:rPr lang="pt-PT" sz="2000" dirty="0">
                <a:solidFill>
                  <a:schemeClr val="accent3"/>
                </a:solidFill>
              </a:rPr>
              <a:t>sistema</a:t>
            </a:r>
            <a:r>
              <a:rPr lang="pt-PT" sz="2000" dirty="0">
                <a:solidFill>
                  <a:schemeClr val="bg1"/>
                </a:solidFill>
              </a:rPr>
              <a:t> </a:t>
            </a:r>
            <a:r>
              <a:rPr lang="pt-PT" sz="2000" dirty="0">
                <a:solidFill>
                  <a:schemeClr val="accent3"/>
                </a:solidFill>
              </a:rPr>
              <a:t>internacional</a:t>
            </a:r>
            <a:r>
              <a:rPr lang="pt-PT" sz="2000" dirty="0">
                <a:solidFill>
                  <a:schemeClr val="bg1"/>
                </a:solidFill>
              </a:rPr>
              <a:t> </a:t>
            </a:r>
            <a:r>
              <a:rPr lang="pt-PT" sz="2000" dirty="0">
                <a:solidFill>
                  <a:schemeClr val="accent3"/>
                </a:solidFill>
              </a:rPr>
              <a:t>de</a:t>
            </a:r>
            <a:r>
              <a:rPr lang="pt-PT" sz="2000" dirty="0">
                <a:solidFill>
                  <a:schemeClr val="bg1"/>
                </a:solidFill>
              </a:rPr>
              <a:t> </a:t>
            </a:r>
            <a:r>
              <a:rPr lang="pt-PT" sz="2000" dirty="0">
                <a:solidFill>
                  <a:schemeClr val="accent3"/>
                </a:solidFill>
              </a:rPr>
              <a:t>proteção</a:t>
            </a:r>
            <a:r>
              <a:rPr lang="pt-PT" sz="2000" dirty="0">
                <a:solidFill>
                  <a:schemeClr val="bg1"/>
                </a:solidFill>
              </a:rPr>
              <a:t> </a:t>
            </a:r>
            <a:r>
              <a:rPr lang="pt-PT" sz="2000" dirty="0">
                <a:solidFill>
                  <a:schemeClr val="accent3"/>
                </a:solidFill>
              </a:rPr>
              <a:t>após</a:t>
            </a:r>
            <a:r>
              <a:rPr lang="pt-PT" sz="2000" dirty="0">
                <a:solidFill>
                  <a:schemeClr val="bg1"/>
                </a:solidFill>
              </a:rPr>
              <a:t> </a:t>
            </a:r>
            <a:r>
              <a:rPr lang="pt-PT" sz="2000" dirty="0">
                <a:solidFill>
                  <a:schemeClr val="accent3"/>
                </a:solidFill>
              </a:rPr>
              <a:t>a</a:t>
            </a:r>
            <a:r>
              <a:rPr lang="pt-PT" sz="2000" dirty="0">
                <a:solidFill>
                  <a:schemeClr val="bg1"/>
                </a:solidFill>
              </a:rPr>
              <a:t> </a:t>
            </a:r>
            <a:r>
              <a:rPr lang="pt-PT" sz="2000" dirty="0">
                <a:solidFill>
                  <a:schemeClr val="accent3"/>
                </a:solidFill>
              </a:rPr>
              <a:t>Segunda</a:t>
            </a:r>
            <a:r>
              <a:rPr lang="pt-PT" sz="2000" dirty="0">
                <a:solidFill>
                  <a:schemeClr val="bg1"/>
                </a:solidFill>
              </a:rPr>
              <a:t> </a:t>
            </a:r>
            <a:r>
              <a:rPr lang="pt-PT" sz="2000" dirty="0">
                <a:solidFill>
                  <a:schemeClr val="accent3"/>
                </a:solidFill>
              </a:rPr>
              <a:t>Guerra</a:t>
            </a:r>
            <a:r>
              <a:rPr lang="pt-PT" sz="2000" dirty="0">
                <a:solidFill>
                  <a:schemeClr val="bg1"/>
                </a:solidFill>
              </a:rPr>
              <a:t> </a:t>
            </a:r>
            <a:r>
              <a:rPr lang="pt-PT" sz="2000" dirty="0">
                <a:solidFill>
                  <a:schemeClr val="accent3"/>
                </a:solidFill>
              </a:rPr>
              <a:t>Mundial</a:t>
            </a:r>
            <a:r>
              <a:rPr lang="pt-PT" sz="2000" dirty="0">
                <a:solidFill>
                  <a:schemeClr val="bg1"/>
                </a:solidFill>
              </a:rPr>
              <a:t>: O trauma do Holocausto e dos horrores da guerra impulsionou a comunidade internacional a criar um sistema de proteção </a:t>
            </a:r>
            <a:r>
              <a:rPr lang="pt-PT" sz="2000" dirty="0" err="1">
                <a:solidFill>
                  <a:schemeClr val="bg1"/>
                </a:solidFill>
              </a:rPr>
              <a:t>supraestatal</a:t>
            </a:r>
            <a:r>
              <a:rPr lang="pt-PT" sz="2000" dirty="0">
                <a:solidFill>
                  <a:schemeClr val="bg1"/>
                </a:solidFill>
              </a:rPr>
              <a:t>. A Carta das Nações Unidas (1945) menciona os direitos humanos, e a criação da Declaração Universal dos Direitos Humanos (1948) consolida o marco fundador do Direito Internacional dos Direitos Humanos.</a:t>
            </a:r>
          </a:p>
        </p:txBody>
      </p:sp>
    </p:spTree>
    <p:extLst>
      <p:ext uri="{BB962C8B-B14F-4D97-AF65-F5344CB8AC3E}">
        <p14:creationId xmlns:p14="http://schemas.microsoft.com/office/powerpoint/2010/main" val="428132408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m 4">
            <a:extLst>
              <a:ext uri="{FF2B5EF4-FFF2-40B4-BE49-F238E27FC236}">
                <a16:creationId xmlns:a16="http://schemas.microsoft.com/office/drawing/2014/main" id="{02DA6C70-5658-6094-2D67-F81AFE44A208}"/>
              </a:ext>
            </a:extLst>
          </p:cNvPr>
          <p:cNvPicPr>
            <a:picLocks noChangeAspect="1"/>
          </p:cNvPicPr>
          <p:nvPr/>
        </p:nvPicPr>
        <p:blipFill>
          <a:blip r:embed="rId2"/>
          <a:stretch>
            <a:fillRect/>
          </a:stretch>
        </p:blipFill>
        <p:spPr>
          <a:xfrm rot="16200000">
            <a:off x="2683238" y="-2666999"/>
            <a:ext cx="6858001" cy="12192000"/>
          </a:xfrm>
          <a:prstGeom prst="rect">
            <a:avLst/>
          </a:prstGeom>
        </p:spPr>
      </p:pic>
      <p:sp>
        <p:nvSpPr>
          <p:cNvPr id="7" name="CaixaDeTexto 6">
            <a:extLst>
              <a:ext uri="{FF2B5EF4-FFF2-40B4-BE49-F238E27FC236}">
                <a16:creationId xmlns:a16="http://schemas.microsoft.com/office/drawing/2014/main" id="{AF76BC7A-3FBB-0F1A-67F1-E46630E18DAF}"/>
              </a:ext>
            </a:extLst>
          </p:cNvPr>
          <p:cNvSpPr txBox="1"/>
          <p:nvPr/>
        </p:nvSpPr>
        <p:spPr>
          <a:xfrm rot="10800000" flipV="1">
            <a:off x="102393" y="132052"/>
            <a:ext cx="10232231" cy="584775"/>
          </a:xfrm>
          <a:prstGeom prst="rect">
            <a:avLst/>
          </a:prstGeom>
          <a:noFill/>
        </p:spPr>
        <p:txBody>
          <a:bodyPr wrap="square" rtlCol="0">
            <a:spAutoFit/>
          </a:bodyPr>
          <a:lstStyle/>
          <a:p>
            <a:pPr algn="l"/>
            <a:endParaRPr lang="pt-PT" sz="3200" dirty="0">
              <a:solidFill>
                <a:schemeClr val="accent3"/>
              </a:solidFill>
            </a:endParaRPr>
          </a:p>
        </p:txBody>
      </p:sp>
      <p:sp>
        <p:nvSpPr>
          <p:cNvPr id="6" name="CaixaDeTexto 5">
            <a:extLst>
              <a:ext uri="{FF2B5EF4-FFF2-40B4-BE49-F238E27FC236}">
                <a16:creationId xmlns:a16="http://schemas.microsoft.com/office/drawing/2014/main" id="{40886E1C-0873-4A3E-5306-03186FD10F9B}"/>
              </a:ext>
            </a:extLst>
          </p:cNvPr>
          <p:cNvSpPr txBox="1"/>
          <p:nvPr/>
        </p:nvSpPr>
        <p:spPr>
          <a:xfrm rot="10800000" flipV="1">
            <a:off x="254793" y="271826"/>
            <a:ext cx="10232231" cy="584775"/>
          </a:xfrm>
          <a:prstGeom prst="rect">
            <a:avLst/>
          </a:prstGeom>
          <a:noFill/>
        </p:spPr>
        <p:txBody>
          <a:bodyPr wrap="square" rtlCol="0">
            <a:spAutoFit/>
          </a:bodyPr>
          <a:lstStyle/>
          <a:p>
            <a:pPr algn="l"/>
            <a:r>
              <a:rPr lang="pt-PT" sz="3200" dirty="0">
                <a:solidFill>
                  <a:schemeClr val="accent3"/>
                </a:solidFill>
              </a:rPr>
              <a:t>Contribuições de Nelson Mandela aos Direitos Humanos</a:t>
            </a:r>
          </a:p>
        </p:txBody>
      </p:sp>
      <p:sp>
        <p:nvSpPr>
          <p:cNvPr id="3" name="CaixaDeTexto 2">
            <a:extLst>
              <a:ext uri="{FF2B5EF4-FFF2-40B4-BE49-F238E27FC236}">
                <a16:creationId xmlns:a16="http://schemas.microsoft.com/office/drawing/2014/main" id="{625F880D-CC8D-ED0A-1616-99B4880CFFA7}"/>
              </a:ext>
            </a:extLst>
          </p:cNvPr>
          <p:cNvSpPr txBox="1"/>
          <p:nvPr/>
        </p:nvSpPr>
        <p:spPr>
          <a:xfrm>
            <a:off x="254793" y="1572373"/>
            <a:ext cx="11633598" cy="1323439"/>
          </a:xfrm>
          <a:prstGeom prst="rect">
            <a:avLst/>
          </a:prstGeom>
          <a:noFill/>
        </p:spPr>
        <p:txBody>
          <a:bodyPr wrap="square" rtlCol="0">
            <a:spAutoFit/>
          </a:bodyPr>
          <a:lstStyle/>
          <a:p>
            <a:pPr algn="just"/>
            <a:r>
              <a:rPr lang="pt-PT" sz="2000" dirty="0">
                <a:solidFill>
                  <a:schemeClr val="bg1"/>
                </a:solidFill>
              </a:rPr>
              <a:t>• </a:t>
            </a:r>
            <a:r>
              <a:rPr lang="pt-PT" sz="2000" dirty="0">
                <a:solidFill>
                  <a:schemeClr val="accent1"/>
                </a:solidFill>
              </a:rPr>
              <a:t>combate ao apartheid:</a:t>
            </a:r>
            <a:r>
              <a:rPr lang="pt-PT" sz="2000" dirty="0">
                <a:solidFill>
                  <a:schemeClr val="bg1"/>
                </a:solidFill>
              </a:rPr>
              <a:t> Mandela foi o principal símbolo da luta contra o apartheid, um sistema institucionalizado de discriminação racial que negava direitos básicos à maioria negra da África do Sul. Sua resistência ajudou a derrubar leis que violavam: o direito a igualdade, a dignidade humana, A liberdade de circulação, o direito ao voto.</a:t>
            </a:r>
            <a:endParaRPr lang="pt-PT" sz="2000" dirty="0"/>
          </a:p>
        </p:txBody>
      </p:sp>
      <p:sp>
        <p:nvSpPr>
          <p:cNvPr id="2" name="CaixaDeTexto 1">
            <a:extLst>
              <a:ext uri="{FF2B5EF4-FFF2-40B4-BE49-F238E27FC236}">
                <a16:creationId xmlns:a16="http://schemas.microsoft.com/office/drawing/2014/main" id="{C93EDA9E-1D6A-7A6B-27BE-6F6F5B064BB9}"/>
              </a:ext>
            </a:extLst>
          </p:cNvPr>
          <p:cNvSpPr txBox="1"/>
          <p:nvPr/>
        </p:nvSpPr>
        <p:spPr>
          <a:xfrm>
            <a:off x="254793" y="899591"/>
            <a:ext cx="11714893" cy="707886"/>
          </a:xfrm>
          <a:prstGeom prst="rect">
            <a:avLst/>
          </a:prstGeom>
          <a:noFill/>
        </p:spPr>
        <p:txBody>
          <a:bodyPr wrap="square" rtlCol="0">
            <a:spAutoFit/>
          </a:bodyPr>
          <a:lstStyle/>
          <a:p>
            <a:pPr algn="just"/>
            <a:r>
              <a:rPr lang="pt-PT" sz="2000" dirty="0">
                <a:solidFill>
                  <a:schemeClr val="bg1"/>
                </a:solidFill>
              </a:rPr>
              <a:t>Nelson Mandela teve contribuições fundamentais e duradoras para os Direitos Humanos, tanto na África do Sul quanto no mundo:</a:t>
            </a:r>
          </a:p>
        </p:txBody>
      </p:sp>
      <p:sp>
        <p:nvSpPr>
          <p:cNvPr id="8" name="CaixaDeTexto 7">
            <a:extLst>
              <a:ext uri="{FF2B5EF4-FFF2-40B4-BE49-F238E27FC236}">
                <a16:creationId xmlns:a16="http://schemas.microsoft.com/office/drawing/2014/main" id="{1532BFA5-8F41-7961-3508-84DAA9F935F0}"/>
              </a:ext>
            </a:extLst>
          </p:cNvPr>
          <p:cNvSpPr txBox="1"/>
          <p:nvPr/>
        </p:nvSpPr>
        <p:spPr>
          <a:xfrm>
            <a:off x="205119" y="2901014"/>
            <a:ext cx="11633598" cy="1323439"/>
          </a:xfrm>
          <a:prstGeom prst="rect">
            <a:avLst/>
          </a:prstGeom>
          <a:noFill/>
        </p:spPr>
        <p:txBody>
          <a:bodyPr wrap="square" rtlCol="0">
            <a:spAutoFit/>
          </a:bodyPr>
          <a:lstStyle/>
          <a:p>
            <a:pPr algn="just"/>
            <a:r>
              <a:rPr lang="pt-PT" sz="2000" dirty="0">
                <a:solidFill>
                  <a:schemeClr val="bg1"/>
                </a:solidFill>
              </a:rPr>
              <a:t>•</a:t>
            </a:r>
            <a:r>
              <a:rPr lang="pt-PT" sz="2000" dirty="0"/>
              <a:t> </a:t>
            </a:r>
            <a:r>
              <a:rPr lang="pt-PT" sz="2000" dirty="0">
                <a:solidFill>
                  <a:schemeClr val="accent1"/>
                </a:solidFill>
              </a:rPr>
              <a:t>Defesa da igualdade e da dignidade humana:</a:t>
            </a:r>
            <a:r>
              <a:rPr lang="pt-PT" sz="2000" dirty="0"/>
              <a:t> </a:t>
            </a:r>
            <a:r>
              <a:rPr lang="pt-PT" sz="2000" dirty="0">
                <a:solidFill>
                  <a:schemeClr val="bg1"/>
                </a:solidFill>
              </a:rPr>
              <a:t>Mandela acreditava que todos os seres humanos nascem livres e iguais em dignidade e direitos, princípio central dos Direitos Humanos. Sua luta visava garantir que ninguém fosse tratado como inferior por causa da cor da pele, origem ou classe social.</a:t>
            </a:r>
          </a:p>
        </p:txBody>
      </p:sp>
      <p:sp>
        <p:nvSpPr>
          <p:cNvPr id="10" name="CaixaDeTexto 9">
            <a:extLst>
              <a:ext uri="{FF2B5EF4-FFF2-40B4-BE49-F238E27FC236}">
                <a16:creationId xmlns:a16="http://schemas.microsoft.com/office/drawing/2014/main" id="{1129119C-B757-48CC-7D48-64D9E9F8AC51}"/>
              </a:ext>
            </a:extLst>
          </p:cNvPr>
          <p:cNvSpPr txBox="1"/>
          <p:nvPr/>
        </p:nvSpPr>
        <p:spPr>
          <a:xfrm>
            <a:off x="254793" y="4269964"/>
            <a:ext cx="11633598" cy="1015663"/>
          </a:xfrm>
          <a:prstGeom prst="rect">
            <a:avLst/>
          </a:prstGeom>
          <a:noFill/>
        </p:spPr>
        <p:txBody>
          <a:bodyPr wrap="square" rtlCol="0">
            <a:spAutoFit/>
          </a:bodyPr>
          <a:lstStyle/>
          <a:p>
            <a:pPr algn="just"/>
            <a:r>
              <a:rPr lang="pt-PT" sz="2000" dirty="0">
                <a:solidFill>
                  <a:schemeClr val="bg1"/>
                </a:solidFill>
              </a:rPr>
              <a:t>•</a:t>
            </a:r>
            <a:r>
              <a:rPr lang="pt-PT" sz="2000" dirty="0">
                <a:solidFill>
                  <a:schemeClr val="accent1"/>
                </a:solidFill>
              </a:rPr>
              <a:t> Resistência à opressão e sacrifício pessoal:</a:t>
            </a:r>
            <a:r>
              <a:rPr lang="pt-PT" sz="2000" dirty="0">
                <a:solidFill>
                  <a:schemeClr val="bg1"/>
                </a:solidFill>
              </a:rPr>
              <a:t> Ele passou 27 anos preso por lutar contra um regime injusto. Mesmo assim, manteve o compromisso com a justiça e mostrou ao mundo que a defesa dos Direitos Humanos muitas vezes exige sacrifício pessoal.</a:t>
            </a:r>
          </a:p>
        </p:txBody>
      </p:sp>
    </p:spTree>
    <p:extLst>
      <p:ext uri="{BB962C8B-B14F-4D97-AF65-F5344CB8AC3E}">
        <p14:creationId xmlns:p14="http://schemas.microsoft.com/office/powerpoint/2010/main" val="19681817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p:bldP spid="2" grpId="0"/>
      <p:bldP spid="8" grpId="0"/>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m 4">
            <a:extLst>
              <a:ext uri="{FF2B5EF4-FFF2-40B4-BE49-F238E27FC236}">
                <a16:creationId xmlns:a16="http://schemas.microsoft.com/office/drawing/2014/main" id="{844E0F88-2D0D-566E-3829-096798B1BE68}"/>
              </a:ext>
            </a:extLst>
          </p:cNvPr>
          <p:cNvPicPr>
            <a:picLocks noChangeAspect="1"/>
          </p:cNvPicPr>
          <p:nvPr/>
        </p:nvPicPr>
        <p:blipFill>
          <a:blip r:embed="rId2"/>
          <a:stretch>
            <a:fillRect/>
          </a:stretch>
        </p:blipFill>
        <p:spPr>
          <a:xfrm rot="16200000">
            <a:off x="2666998" y="-2667001"/>
            <a:ext cx="6858001" cy="12192000"/>
          </a:xfrm>
          <a:prstGeom prst="rect">
            <a:avLst/>
          </a:prstGeom>
        </p:spPr>
      </p:pic>
      <p:sp>
        <p:nvSpPr>
          <p:cNvPr id="6" name="CaixaDeTexto 5">
            <a:extLst>
              <a:ext uri="{FF2B5EF4-FFF2-40B4-BE49-F238E27FC236}">
                <a16:creationId xmlns:a16="http://schemas.microsoft.com/office/drawing/2014/main" id="{328B0AEA-5585-ADC1-B679-1EBA06C4DFEE}"/>
              </a:ext>
            </a:extLst>
          </p:cNvPr>
          <p:cNvSpPr txBox="1"/>
          <p:nvPr/>
        </p:nvSpPr>
        <p:spPr>
          <a:xfrm>
            <a:off x="202405" y="3024188"/>
            <a:ext cx="11703846" cy="3539430"/>
          </a:xfrm>
          <a:prstGeom prst="rect">
            <a:avLst/>
          </a:prstGeom>
          <a:noFill/>
        </p:spPr>
        <p:txBody>
          <a:bodyPr wrap="square" rtlCol="0">
            <a:spAutoFit/>
          </a:bodyPr>
          <a:lstStyle/>
          <a:p>
            <a:pPr algn="just"/>
            <a:r>
              <a:rPr lang="pt-PT" sz="2000" b="1" dirty="0">
                <a:solidFill>
                  <a:schemeClr val="bg1"/>
                </a:solidFill>
              </a:rPr>
              <a:t>
</a:t>
            </a:r>
            <a:r>
              <a:rPr lang="pt-PT" sz="2400" b="1" dirty="0">
                <a:solidFill>
                  <a:schemeClr val="accent1"/>
                </a:solidFill>
              </a:rPr>
              <a:t>Princípios</a:t>
            </a:r>
            <a:r>
              <a:rPr lang="pt-PT" sz="2000" b="1" dirty="0">
                <a:solidFill>
                  <a:schemeClr val="bg1"/>
                </a:solidFill>
              </a:rPr>
              <a:t> </a:t>
            </a:r>
            <a:r>
              <a:rPr lang="pt-PT" sz="2400" b="1" dirty="0">
                <a:solidFill>
                  <a:schemeClr val="accent1"/>
                </a:solidFill>
              </a:rPr>
              <a:t>Fundamentais</a:t>
            </a:r>
          </a:p>
          <a:p>
            <a:pPr algn="just"/>
            <a:r>
              <a:rPr lang="pt-PT" sz="2000" b="1" dirty="0">
                <a:solidFill>
                  <a:schemeClr val="bg1"/>
                </a:solidFill>
              </a:rPr>
              <a:t>Quatro princípios estruturais norteiam o regime internacional dos direitos humanos:
</a:t>
            </a:r>
            <a:r>
              <a:rPr lang="pt-PT" sz="2000" b="1" dirty="0">
                <a:solidFill>
                  <a:schemeClr val="accent3"/>
                </a:solidFill>
              </a:rPr>
              <a:t>•</a:t>
            </a:r>
            <a:r>
              <a:rPr lang="pt-PT" sz="2000" b="1" dirty="0">
                <a:solidFill>
                  <a:schemeClr val="bg1"/>
                </a:solidFill>
              </a:rPr>
              <a:t> </a:t>
            </a:r>
            <a:r>
              <a:rPr lang="pt-PT" sz="2000" b="1" dirty="0">
                <a:solidFill>
                  <a:schemeClr val="accent3"/>
                </a:solidFill>
              </a:rPr>
              <a:t>Universalidade:</a:t>
            </a:r>
            <a:r>
              <a:rPr lang="pt-PT" sz="2000" b="1" dirty="0">
                <a:solidFill>
                  <a:schemeClr val="bg1"/>
                </a:solidFill>
              </a:rPr>
              <a:t> Os direitos humanos aplicam-se a todos os seres humanos, em todos os lugares, sem distinção.
</a:t>
            </a:r>
            <a:r>
              <a:rPr lang="pt-PT" sz="2000" b="1" dirty="0">
                <a:solidFill>
                  <a:schemeClr val="accent3"/>
                </a:solidFill>
              </a:rPr>
              <a:t>•</a:t>
            </a:r>
            <a:r>
              <a:rPr lang="pt-PT" sz="2000" b="1" dirty="0">
                <a:solidFill>
                  <a:schemeClr val="bg1"/>
                </a:solidFill>
              </a:rPr>
              <a:t> </a:t>
            </a:r>
            <a:r>
              <a:rPr lang="pt-PT" sz="2000" b="1" dirty="0">
                <a:solidFill>
                  <a:schemeClr val="accent3"/>
                </a:solidFill>
              </a:rPr>
              <a:t>Indivisibilidade:</a:t>
            </a:r>
            <a:r>
              <a:rPr lang="pt-PT" sz="2000" b="1" dirty="0">
                <a:solidFill>
                  <a:schemeClr val="bg1"/>
                </a:solidFill>
              </a:rPr>
              <a:t> Não há hierarquia entre as categorias de direitos. Os direitos civis e políticos são tão importantes quanto os econômicos, sociais e culturais.
</a:t>
            </a:r>
            <a:r>
              <a:rPr lang="pt-PT" sz="2000" b="1" dirty="0">
                <a:solidFill>
                  <a:schemeClr val="accent3"/>
                </a:solidFill>
              </a:rPr>
              <a:t>•</a:t>
            </a:r>
            <a:r>
              <a:rPr lang="pt-PT" sz="2000" b="1" dirty="0">
                <a:solidFill>
                  <a:schemeClr val="bg1"/>
                </a:solidFill>
              </a:rPr>
              <a:t> </a:t>
            </a:r>
            <a:r>
              <a:rPr lang="pt-PT" sz="2000" b="1" dirty="0">
                <a:solidFill>
                  <a:schemeClr val="accent3"/>
                </a:solidFill>
              </a:rPr>
              <a:t>Interdependência:</a:t>
            </a:r>
            <a:r>
              <a:rPr lang="pt-PT" sz="2000" b="1" dirty="0">
                <a:solidFill>
                  <a:schemeClr val="bg1"/>
                </a:solidFill>
              </a:rPr>
              <a:t> A realização plena de um direito frequentemente depende da realização de outros.
</a:t>
            </a:r>
            <a:r>
              <a:rPr lang="pt-PT" sz="2000" b="1" dirty="0">
                <a:solidFill>
                  <a:schemeClr val="accent3"/>
                </a:solidFill>
              </a:rPr>
              <a:t>•</a:t>
            </a:r>
            <a:r>
              <a:rPr lang="pt-PT" sz="2000" b="1" dirty="0">
                <a:solidFill>
                  <a:schemeClr val="bg1"/>
                </a:solidFill>
              </a:rPr>
              <a:t> </a:t>
            </a:r>
            <a:r>
              <a:rPr lang="pt-PT" sz="2000" b="1" dirty="0">
                <a:solidFill>
                  <a:schemeClr val="accent3"/>
                </a:solidFill>
              </a:rPr>
              <a:t>Dignidade da Pessoa Humana: </a:t>
            </a:r>
            <a:r>
              <a:rPr lang="pt-PT" sz="2000" b="1" dirty="0">
                <a:solidFill>
                  <a:schemeClr val="bg1"/>
                </a:solidFill>
              </a:rPr>
              <a:t>Princípio matriz que fundamenta todos os demais direitos, reconhecido como valor supremo do ordenamento internacional.</a:t>
            </a:r>
          </a:p>
        </p:txBody>
      </p:sp>
      <p:sp>
        <p:nvSpPr>
          <p:cNvPr id="2" name="CaixaDeTexto 1">
            <a:extLst>
              <a:ext uri="{FF2B5EF4-FFF2-40B4-BE49-F238E27FC236}">
                <a16:creationId xmlns:a16="http://schemas.microsoft.com/office/drawing/2014/main" id="{6A512D9A-98D8-22A1-7D86-0650B034A5D8}"/>
              </a:ext>
            </a:extLst>
          </p:cNvPr>
          <p:cNvSpPr txBox="1"/>
          <p:nvPr/>
        </p:nvSpPr>
        <p:spPr>
          <a:xfrm>
            <a:off x="202404" y="125014"/>
            <a:ext cx="9239250" cy="523220"/>
          </a:xfrm>
          <a:prstGeom prst="rect">
            <a:avLst/>
          </a:prstGeom>
          <a:noFill/>
        </p:spPr>
        <p:txBody>
          <a:bodyPr wrap="square" rtlCol="0">
            <a:spAutoFit/>
          </a:bodyPr>
          <a:lstStyle/>
          <a:p>
            <a:pPr algn="l"/>
            <a:r>
              <a:rPr lang="pt-PT" sz="2800" dirty="0">
                <a:solidFill>
                  <a:schemeClr val="accent3"/>
                </a:solidFill>
              </a:rPr>
              <a:t>Direitos Humanos no Direito Internacional Público</a:t>
            </a:r>
          </a:p>
        </p:txBody>
      </p:sp>
      <p:sp>
        <p:nvSpPr>
          <p:cNvPr id="3" name="CaixaDeTexto 2">
            <a:extLst>
              <a:ext uri="{FF2B5EF4-FFF2-40B4-BE49-F238E27FC236}">
                <a16:creationId xmlns:a16="http://schemas.microsoft.com/office/drawing/2014/main" id="{4606C469-13F3-B962-A2C7-EECCCFF74548}"/>
              </a:ext>
            </a:extLst>
          </p:cNvPr>
          <p:cNvSpPr txBox="1"/>
          <p:nvPr/>
        </p:nvSpPr>
        <p:spPr>
          <a:xfrm>
            <a:off x="202404" y="962085"/>
            <a:ext cx="11787191" cy="1785104"/>
          </a:xfrm>
          <a:prstGeom prst="rect">
            <a:avLst/>
          </a:prstGeom>
          <a:noFill/>
        </p:spPr>
        <p:txBody>
          <a:bodyPr wrap="square" rtlCol="0">
            <a:spAutoFit/>
          </a:bodyPr>
          <a:lstStyle/>
          <a:p>
            <a:pPr algn="just"/>
            <a:r>
              <a:rPr lang="pt-PT" sz="2000" b="1" dirty="0">
                <a:solidFill>
                  <a:schemeClr val="accent1"/>
                </a:solidFill>
              </a:rPr>
              <a:t>Natureza Jurídica dos Direitos Humanos</a:t>
            </a:r>
            <a:r>
              <a:rPr lang="pt-PT" sz="1800" b="1" dirty="0">
                <a:solidFill>
                  <a:schemeClr val="bg1"/>
                </a:solidFill>
              </a:rPr>
              <a:t> </a:t>
            </a:r>
          </a:p>
          <a:p>
            <a:pPr algn="just"/>
            <a:r>
              <a:rPr lang="pt-PT" sz="1800" b="1" dirty="0">
                <a:solidFill>
                  <a:schemeClr val="bg1"/>
                </a:solidFill>
              </a:rPr>
              <a:t>No Direito Internacional Público, os Direitos Humanos são reconhecidos como normas interna­cionais. Estas normas emanam principalmente de tratados (convenções, pactos) e do costume internacional. Os tratados de direitos humanos criam obrigações legais para os Estados que os ratificam. Além disso, muitos dos princípios fundamentais, como a proibição da tortura, são considerados normas de jus </a:t>
            </a:r>
            <a:r>
              <a:rPr lang="pt-PT" sz="1800" b="1" dirty="0" err="1">
                <a:solidFill>
                  <a:schemeClr val="bg1"/>
                </a:solidFill>
              </a:rPr>
              <a:t>cogens</a:t>
            </a:r>
            <a:r>
              <a:rPr lang="pt-PT" sz="1800" b="1" dirty="0">
                <a:solidFill>
                  <a:schemeClr val="bg1"/>
                </a:solidFill>
              </a:rPr>
              <a:t> (direito imperativo), das quais nenhuma derrogação é permitida.</a:t>
            </a:r>
            <a:endParaRPr lang="pt-PT" dirty="0"/>
          </a:p>
        </p:txBody>
      </p:sp>
    </p:spTree>
    <p:extLst>
      <p:ext uri="{BB962C8B-B14F-4D97-AF65-F5344CB8AC3E}">
        <p14:creationId xmlns:p14="http://schemas.microsoft.com/office/powerpoint/2010/main" val="77566053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a:extLst>
              <a:ext uri="{FF2B5EF4-FFF2-40B4-BE49-F238E27FC236}">
                <a16:creationId xmlns:a16="http://schemas.microsoft.com/office/drawing/2014/main" id="{4C578754-7DC0-7B55-EC78-ACFF61E26232}"/>
              </a:ext>
            </a:extLst>
          </p:cNvPr>
          <p:cNvPicPr>
            <a:picLocks noChangeAspect="1"/>
          </p:cNvPicPr>
          <p:nvPr/>
        </p:nvPicPr>
        <p:blipFill>
          <a:blip r:embed="rId2"/>
          <a:stretch>
            <a:fillRect/>
          </a:stretch>
        </p:blipFill>
        <p:spPr>
          <a:xfrm rot="16200000">
            <a:off x="2666997" y="-2667001"/>
            <a:ext cx="6858001" cy="12192000"/>
          </a:xfrm>
          <a:prstGeom prst="rect">
            <a:avLst/>
          </a:prstGeom>
        </p:spPr>
      </p:pic>
      <p:sp>
        <p:nvSpPr>
          <p:cNvPr id="4" name="CaixaDeTexto 3">
            <a:extLst>
              <a:ext uri="{FF2B5EF4-FFF2-40B4-BE49-F238E27FC236}">
                <a16:creationId xmlns:a16="http://schemas.microsoft.com/office/drawing/2014/main" id="{BE508F4E-B273-0675-AB4A-C4019F8FF9E6}"/>
              </a:ext>
            </a:extLst>
          </p:cNvPr>
          <p:cNvSpPr txBox="1"/>
          <p:nvPr/>
        </p:nvSpPr>
        <p:spPr>
          <a:xfrm rot="10800000" flipV="1">
            <a:off x="210678" y="298041"/>
            <a:ext cx="6843713" cy="523220"/>
          </a:xfrm>
          <a:prstGeom prst="rect">
            <a:avLst/>
          </a:prstGeom>
          <a:noFill/>
        </p:spPr>
        <p:txBody>
          <a:bodyPr wrap="square" rtlCol="0">
            <a:spAutoFit/>
          </a:bodyPr>
          <a:lstStyle/>
          <a:p>
            <a:pPr algn="l"/>
            <a:r>
              <a:rPr lang="pt-PT" sz="2800" dirty="0">
                <a:solidFill>
                  <a:schemeClr val="accent3"/>
                </a:solidFill>
              </a:rPr>
              <a:t>Mecanismos de Garantia e Fiscalização</a:t>
            </a:r>
          </a:p>
        </p:txBody>
      </p:sp>
      <p:sp>
        <p:nvSpPr>
          <p:cNvPr id="5" name="CaixaDeTexto 4">
            <a:extLst>
              <a:ext uri="{FF2B5EF4-FFF2-40B4-BE49-F238E27FC236}">
                <a16:creationId xmlns:a16="http://schemas.microsoft.com/office/drawing/2014/main" id="{8E0F1546-7C16-4AFF-97B1-0E6C28D1B1FC}"/>
              </a:ext>
            </a:extLst>
          </p:cNvPr>
          <p:cNvSpPr txBox="1"/>
          <p:nvPr/>
        </p:nvSpPr>
        <p:spPr>
          <a:xfrm>
            <a:off x="157416" y="821262"/>
            <a:ext cx="11877164" cy="707886"/>
          </a:xfrm>
          <a:prstGeom prst="rect">
            <a:avLst/>
          </a:prstGeom>
          <a:noFill/>
        </p:spPr>
        <p:txBody>
          <a:bodyPr wrap="square" rtlCol="0">
            <a:spAutoFit/>
          </a:bodyPr>
          <a:lstStyle/>
          <a:p>
            <a:pPr algn="just"/>
            <a:r>
              <a:rPr lang="pt-PT" sz="2000" dirty="0">
                <a:solidFill>
                  <a:schemeClr val="bg1"/>
                </a:solidFill>
              </a:rPr>
              <a:t>Uma variedade de instrumentos monitora e promove o cumprimento das obrigações de direitos humanos:</a:t>
            </a:r>
          </a:p>
        </p:txBody>
      </p:sp>
      <p:sp>
        <p:nvSpPr>
          <p:cNvPr id="7" name="CaixaDeTexto 6">
            <a:extLst>
              <a:ext uri="{FF2B5EF4-FFF2-40B4-BE49-F238E27FC236}">
                <a16:creationId xmlns:a16="http://schemas.microsoft.com/office/drawing/2014/main" id="{87F3067C-D7B3-CDEB-CF00-B13A8C032838}"/>
              </a:ext>
            </a:extLst>
          </p:cNvPr>
          <p:cNvSpPr txBox="1"/>
          <p:nvPr/>
        </p:nvSpPr>
        <p:spPr>
          <a:xfrm>
            <a:off x="157416" y="1642526"/>
            <a:ext cx="11877164" cy="1015663"/>
          </a:xfrm>
          <a:prstGeom prst="rect">
            <a:avLst/>
          </a:prstGeom>
          <a:noFill/>
        </p:spPr>
        <p:txBody>
          <a:bodyPr wrap="square" rtlCol="0">
            <a:spAutoFit/>
          </a:bodyPr>
          <a:lstStyle/>
          <a:p>
            <a:pPr algn="just"/>
            <a:r>
              <a:rPr lang="pt-PT" sz="2000" dirty="0">
                <a:solidFill>
                  <a:schemeClr val="accent1"/>
                </a:solidFill>
              </a:rPr>
              <a:t>• Comitês Internacionais (ou Comités de Tratados):</a:t>
            </a:r>
            <a:r>
              <a:rPr lang="pt-PT" sz="2000" dirty="0">
                <a:solidFill>
                  <a:schemeClr val="bg1"/>
                </a:solidFill>
              </a:rPr>
              <a:t> Órgãos de peritos independentes que monitoram a implementação de tratados específicos (ex.: Comitê de Direitos Humanos do PIDCP, Comitê do PIDESC). Analisam relatórios estatais e, em alguns casos, comunicações individuais.</a:t>
            </a:r>
          </a:p>
        </p:txBody>
      </p:sp>
      <p:sp>
        <p:nvSpPr>
          <p:cNvPr id="9" name="CaixaDeTexto 8">
            <a:extLst>
              <a:ext uri="{FF2B5EF4-FFF2-40B4-BE49-F238E27FC236}">
                <a16:creationId xmlns:a16="http://schemas.microsoft.com/office/drawing/2014/main" id="{4577D9F4-99B8-55B2-2CD8-D9AC0EF5D955}"/>
              </a:ext>
            </a:extLst>
          </p:cNvPr>
          <p:cNvSpPr txBox="1"/>
          <p:nvPr/>
        </p:nvSpPr>
        <p:spPr>
          <a:xfrm>
            <a:off x="157416" y="2721113"/>
            <a:ext cx="11877164" cy="707886"/>
          </a:xfrm>
          <a:prstGeom prst="rect">
            <a:avLst/>
          </a:prstGeom>
          <a:noFill/>
        </p:spPr>
        <p:txBody>
          <a:bodyPr wrap="square" rtlCol="0">
            <a:spAutoFit/>
          </a:bodyPr>
          <a:lstStyle/>
          <a:p>
            <a:pPr algn="just"/>
            <a:r>
              <a:rPr lang="pt-PT" sz="2000" dirty="0">
                <a:solidFill>
                  <a:schemeClr val="accent1"/>
                </a:solidFill>
              </a:rPr>
              <a:t>• Tribunais Internacionais:</a:t>
            </a:r>
            <a:r>
              <a:rPr lang="pt-PT" sz="2000" dirty="0">
                <a:solidFill>
                  <a:schemeClr val="bg1"/>
                </a:solidFill>
              </a:rPr>
              <a:t> Cortes regionais (TEDH, Corte Interamericana, Corte Africana) e tribunais internacionais ad hoc (como o TPI para crimes contra a humanidade) que julgam violações graves.</a:t>
            </a:r>
          </a:p>
        </p:txBody>
      </p:sp>
      <p:sp>
        <p:nvSpPr>
          <p:cNvPr id="11" name="CaixaDeTexto 10">
            <a:extLst>
              <a:ext uri="{FF2B5EF4-FFF2-40B4-BE49-F238E27FC236}">
                <a16:creationId xmlns:a16="http://schemas.microsoft.com/office/drawing/2014/main" id="{D50B5A4C-6A67-6ED1-5DEB-0B4F800409AB}"/>
              </a:ext>
            </a:extLst>
          </p:cNvPr>
          <p:cNvSpPr txBox="1"/>
          <p:nvPr/>
        </p:nvSpPr>
        <p:spPr>
          <a:xfrm>
            <a:off x="157416" y="3491923"/>
            <a:ext cx="11877164" cy="707886"/>
          </a:xfrm>
          <a:prstGeom prst="rect">
            <a:avLst/>
          </a:prstGeom>
          <a:noFill/>
        </p:spPr>
        <p:txBody>
          <a:bodyPr wrap="square" rtlCol="0">
            <a:spAutoFit/>
          </a:bodyPr>
          <a:lstStyle/>
          <a:p>
            <a:pPr algn="just"/>
            <a:r>
              <a:rPr lang="pt-PT" sz="2000" dirty="0">
                <a:solidFill>
                  <a:schemeClr val="accent1"/>
                </a:solidFill>
              </a:rPr>
              <a:t>• Relatórios Estatais:</a:t>
            </a:r>
            <a:r>
              <a:rPr lang="pt-PT" sz="2000" dirty="0">
                <a:solidFill>
                  <a:schemeClr val="bg1"/>
                </a:solidFill>
              </a:rPr>
              <a:t> Procedimento no qual os Estados partes de um tratado apresentam relatórios periódicos sobre as medidas adotadas para implementar os direitos.</a:t>
            </a:r>
          </a:p>
        </p:txBody>
      </p:sp>
      <p:sp>
        <p:nvSpPr>
          <p:cNvPr id="13" name="CaixaDeTexto 12">
            <a:extLst>
              <a:ext uri="{FF2B5EF4-FFF2-40B4-BE49-F238E27FC236}">
                <a16:creationId xmlns:a16="http://schemas.microsoft.com/office/drawing/2014/main" id="{55845474-4060-9C4A-0F47-1E194D282BA4}"/>
              </a:ext>
            </a:extLst>
          </p:cNvPr>
          <p:cNvSpPr txBox="1"/>
          <p:nvPr/>
        </p:nvSpPr>
        <p:spPr>
          <a:xfrm>
            <a:off x="210678" y="4262733"/>
            <a:ext cx="11877164" cy="1015663"/>
          </a:xfrm>
          <a:prstGeom prst="rect">
            <a:avLst/>
          </a:prstGeom>
          <a:noFill/>
        </p:spPr>
        <p:txBody>
          <a:bodyPr wrap="square" rtlCol="0">
            <a:spAutoFit/>
          </a:bodyPr>
          <a:lstStyle/>
          <a:p>
            <a:pPr algn="just"/>
            <a:r>
              <a:rPr lang="pt-PT" sz="2000" dirty="0">
                <a:solidFill>
                  <a:schemeClr val="accent1"/>
                </a:solidFill>
              </a:rPr>
              <a:t>• Comunicações e Denúncias Individuais:</a:t>
            </a:r>
            <a:r>
              <a:rPr lang="pt-PT" sz="2000" dirty="0">
                <a:solidFill>
                  <a:schemeClr val="bg1"/>
                </a:solidFill>
              </a:rPr>
              <a:t> Mecanismos que permitem a indivíduos ou grupos alegarem violações de seus direitos perante comitês ou cortes internacionais, após esgotarem os recursos internos (quando exigido).</a:t>
            </a:r>
          </a:p>
        </p:txBody>
      </p:sp>
    </p:spTree>
    <p:extLst>
      <p:ext uri="{BB962C8B-B14F-4D97-AF65-F5344CB8AC3E}">
        <p14:creationId xmlns:p14="http://schemas.microsoft.com/office/powerpoint/2010/main" val="389669357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ppt_x"/>
                                          </p:val>
                                        </p:tav>
                                        <p:tav tm="100000">
                                          <p:val>
                                            <p:strVal val="#ppt_x"/>
                                          </p:val>
                                        </p:tav>
                                      </p:tavLst>
                                    </p:anim>
                                    <p:anim calcmode="lin" valueType="num">
                                      <p:cBhvr additive="base">
                                        <p:cTn id="3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ppt_x</p:attrName>
                                        </p:attrNameLst>
                                      </p:cBhvr>
                                      <p:tavLst>
                                        <p:tav tm="0">
                                          <p:val>
                                            <p:strVal val="#ppt_x"/>
                                          </p:val>
                                        </p:tav>
                                        <p:tav tm="100000">
                                          <p:val>
                                            <p:strVal val="#ppt_x"/>
                                          </p:val>
                                        </p:tav>
                                      </p:tavLst>
                                    </p:anim>
                                    <p:anim calcmode="lin" valueType="num">
                                      <p:cBhvr additive="base">
                                        <p:cTn id="3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P spid="9" grpId="0"/>
      <p:bldP spid="11" grpId="0"/>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m 4">
            <a:extLst>
              <a:ext uri="{FF2B5EF4-FFF2-40B4-BE49-F238E27FC236}">
                <a16:creationId xmlns:a16="http://schemas.microsoft.com/office/drawing/2014/main" id="{EB8CD685-4B8C-0659-E0C6-30D210C21F4A}"/>
              </a:ext>
            </a:extLst>
          </p:cNvPr>
          <p:cNvPicPr>
            <a:picLocks noChangeAspect="1"/>
          </p:cNvPicPr>
          <p:nvPr/>
        </p:nvPicPr>
        <p:blipFill>
          <a:blip r:embed="rId2"/>
          <a:stretch>
            <a:fillRect/>
          </a:stretch>
        </p:blipFill>
        <p:spPr>
          <a:xfrm rot="16200000">
            <a:off x="2667000" y="-2666999"/>
            <a:ext cx="6858001" cy="12192000"/>
          </a:xfrm>
          <a:prstGeom prst="rect">
            <a:avLst/>
          </a:prstGeom>
        </p:spPr>
      </p:pic>
      <p:sp>
        <p:nvSpPr>
          <p:cNvPr id="6" name="CaixaDeTexto 5">
            <a:extLst>
              <a:ext uri="{FF2B5EF4-FFF2-40B4-BE49-F238E27FC236}">
                <a16:creationId xmlns:a16="http://schemas.microsoft.com/office/drawing/2014/main" id="{156F6D7C-DFEF-6DA5-8366-C7624AB63562}"/>
              </a:ext>
            </a:extLst>
          </p:cNvPr>
          <p:cNvSpPr txBox="1"/>
          <p:nvPr/>
        </p:nvSpPr>
        <p:spPr>
          <a:xfrm>
            <a:off x="157162" y="169068"/>
            <a:ext cx="6176963" cy="523220"/>
          </a:xfrm>
          <a:prstGeom prst="rect">
            <a:avLst/>
          </a:prstGeom>
          <a:noFill/>
        </p:spPr>
        <p:txBody>
          <a:bodyPr wrap="square" rtlCol="0">
            <a:spAutoFit/>
          </a:bodyPr>
          <a:lstStyle/>
          <a:p>
            <a:pPr algn="l"/>
            <a:r>
              <a:rPr lang="pt-PT" sz="2800" dirty="0">
                <a:solidFill>
                  <a:schemeClr val="accent3"/>
                </a:solidFill>
              </a:rPr>
              <a:t>Desafios Atuais dos Direitos Humanos</a:t>
            </a:r>
          </a:p>
        </p:txBody>
      </p:sp>
      <p:sp>
        <p:nvSpPr>
          <p:cNvPr id="7" name="CaixaDeTexto 6">
            <a:extLst>
              <a:ext uri="{FF2B5EF4-FFF2-40B4-BE49-F238E27FC236}">
                <a16:creationId xmlns:a16="http://schemas.microsoft.com/office/drawing/2014/main" id="{09B249E7-CFC6-A386-899D-A9428AEF7488}"/>
              </a:ext>
            </a:extLst>
          </p:cNvPr>
          <p:cNvSpPr txBox="1"/>
          <p:nvPr/>
        </p:nvSpPr>
        <p:spPr>
          <a:xfrm>
            <a:off x="157162" y="861358"/>
            <a:ext cx="11299032" cy="400110"/>
          </a:xfrm>
          <a:prstGeom prst="rect">
            <a:avLst/>
          </a:prstGeom>
          <a:noFill/>
        </p:spPr>
        <p:txBody>
          <a:bodyPr wrap="square" rtlCol="0">
            <a:spAutoFit/>
          </a:bodyPr>
          <a:lstStyle/>
          <a:p>
            <a:pPr algn="just"/>
            <a:r>
              <a:rPr lang="pt-PT" sz="2000" dirty="0">
                <a:solidFill>
                  <a:schemeClr val="bg1"/>
                </a:solidFill>
              </a:rPr>
              <a:t>A proteção internacional dos direitos humanos enfrenta obstáculos complexos no século XXI:</a:t>
            </a:r>
          </a:p>
        </p:txBody>
      </p:sp>
      <p:sp>
        <p:nvSpPr>
          <p:cNvPr id="9" name="CaixaDeTexto 8">
            <a:extLst>
              <a:ext uri="{FF2B5EF4-FFF2-40B4-BE49-F238E27FC236}">
                <a16:creationId xmlns:a16="http://schemas.microsoft.com/office/drawing/2014/main" id="{F5C8DA74-3FBB-A8CB-76EA-29B5FF652444}"/>
              </a:ext>
            </a:extLst>
          </p:cNvPr>
          <p:cNvSpPr txBox="1"/>
          <p:nvPr/>
        </p:nvSpPr>
        <p:spPr>
          <a:xfrm>
            <a:off x="106521" y="1430538"/>
            <a:ext cx="11299032" cy="707886"/>
          </a:xfrm>
          <a:prstGeom prst="rect">
            <a:avLst/>
          </a:prstGeom>
          <a:noFill/>
        </p:spPr>
        <p:txBody>
          <a:bodyPr wrap="square" rtlCol="0">
            <a:spAutoFit/>
          </a:bodyPr>
          <a:lstStyle/>
          <a:p>
            <a:pPr algn="just"/>
            <a:r>
              <a:rPr lang="pt-PT" sz="2000" dirty="0">
                <a:solidFill>
                  <a:schemeClr val="accent1"/>
                </a:solidFill>
              </a:rPr>
              <a:t>• Globalização: </a:t>
            </a:r>
            <a:r>
              <a:rPr lang="pt-PT" sz="2000" dirty="0">
                <a:solidFill>
                  <a:schemeClr val="bg1"/>
                </a:solidFill>
              </a:rPr>
              <a:t>Cria tensões entre padrões globais e soberania estatal, e pode exacerbar desigualdades econômicas que afetam direitos sociais.</a:t>
            </a:r>
          </a:p>
        </p:txBody>
      </p:sp>
      <p:sp>
        <p:nvSpPr>
          <p:cNvPr id="11" name="CaixaDeTexto 10">
            <a:extLst>
              <a:ext uri="{FF2B5EF4-FFF2-40B4-BE49-F238E27FC236}">
                <a16:creationId xmlns:a16="http://schemas.microsoft.com/office/drawing/2014/main" id="{9378CE57-7C19-992D-24F2-8D05CAFDCBB2}"/>
              </a:ext>
            </a:extLst>
          </p:cNvPr>
          <p:cNvSpPr txBox="1"/>
          <p:nvPr/>
        </p:nvSpPr>
        <p:spPr>
          <a:xfrm>
            <a:off x="157162" y="2233968"/>
            <a:ext cx="11299032" cy="1015663"/>
          </a:xfrm>
          <a:prstGeom prst="rect">
            <a:avLst/>
          </a:prstGeom>
          <a:noFill/>
        </p:spPr>
        <p:txBody>
          <a:bodyPr wrap="square" rtlCol="0">
            <a:spAutoFit/>
          </a:bodyPr>
          <a:lstStyle/>
          <a:p>
            <a:pPr algn="just"/>
            <a:r>
              <a:rPr lang="pt-PT" sz="2000" dirty="0">
                <a:solidFill>
                  <a:schemeClr val="accent1"/>
                </a:solidFill>
              </a:rPr>
              <a:t>• Conflitos Armados:</a:t>
            </a:r>
            <a:r>
              <a:rPr lang="pt-PT" sz="2000" dirty="0">
                <a:solidFill>
                  <a:schemeClr val="bg1"/>
                </a:solidFill>
              </a:rPr>
              <a:t> Situações de guerra continuam a ser cenários de graves violações (crimes de guerra, contra a humanidade). A proteção de civis e o acesso humanitário são desafios permanentes.</a:t>
            </a:r>
          </a:p>
        </p:txBody>
      </p:sp>
      <p:sp>
        <p:nvSpPr>
          <p:cNvPr id="13" name="CaixaDeTexto 12">
            <a:extLst>
              <a:ext uri="{FF2B5EF4-FFF2-40B4-BE49-F238E27FC236}">
                <a16:creationId xmlns:a16="http://schemas.microsoft.com/office/drawing/2014/main" id="{DA9D2F7C-4733-BB4D-49E4-4D27EC5FE50E}"/>
              </a:ext>
            </a:extLst>
          </p:cNvPr>
          <p:cNvSpPr txBox="1"/>
          <p:nvPr/>
        </p:nvSpPr>
        <p:spPr>
          <a:xfrm>
            <a:off x="106521" y="3345175"/>
            <a:ext cx="11299032" cy="707886"/>
          </a:xfrm>
          <a:prstGeom prst="rect">
            <a:avLst/>
          </a:prstGeom>
          <a:noFill/>
        </p:spPr>
        <p:txBody>
          <a:bodyPr wrap="square" rtlCol="0">
            <a:spAutoFit/>
          </a:bodyPr>
          <a:lstStyle/>
          <a:p>
            <a:pPr algn="just"/>
            <a:r>
              <a:rPr lang="pt-PT" sz="2000" dirty="0">
                <a:solidFill>
                  <a:schemeClr val="accent1"/>
                </a:solidFill>
              </a:rPr>
              <a:t>• Migrações e Refugiados: </a:t>
            </a:r>
            <a:r>
              <a:rPr lang="pt-PT" sz="2000" dirty="0">
                <a:solidFill>
                  <a:schemeClr val="bg1"/>
                </a:solidFill>
              </a:rPr>
              <a:t>Crises migratórias massivas testam os sistemas de asilo e os princípios de não-devolução (non-</a:t>
            </a:r>
            <a:r>
              <a:rPr lang="pt-PT" sz="2000" dirty="0" err="1">
                <a:solidFill>
                  <a:schemeClr val="bg1"/>
                </a:solidFill>
              </a:rPr>
              <a:t>refoulement</a:t>
            </a:r>
            <a:r>
              <a:rPr lang="pt-PT" sz="2000" dirty="0">
                <a:solidFill>
                  <a:schemeClr val="bg1"/>
                </a:solidFill>
              </a:rPr>
              <a:t>), expondo migrantes a violações de direitos.</a:t>
            </a:r>
          </a:p>
        </p:txBody>
      </p:sp>
    </p:spTree>
    <p:extLst>
      <p:ext uri="{BB962C8B-B14F-4D97-AF65-F5344CB8AC3E}">
        <p14:creationId xmlns:p14="http://schemas.microsoft.com/office/powerpoint/2010/main" val="2800246510"/>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ppt_x"/>
                                          </p:val>
                                        </p:tav>
                                        <p:tav tm="100000">
                                          <p:val>
                                            <p:strVal val="#ppt_x"/>
                                          </p:val>
                                        </p:tav>
                                      </p:tavLst>
                                    </p:anim>
                                    <p:anim calcmode="lin" valueType="num">
                                      <p:cBhvr additive="base">
                                        <p:cTn id="3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P spid="11" grpId="0"/>
      <p:bldP spid="1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m 4">
            <a:extLst>
              <a:ext uri="{FF2B5EF4-FFF2-40B4-BE49-F238E27FC236}">
                <a16:creationId xmlns:a16="http://schemas.microsoft.com/office/drawing/2014/main" id="{6219FF01-3484-7135-66CF-D8B520A7DEBF}"/>
              </a:ext>
            </a:extLst>
          </p:cNvPr>
          <p:cNvPicPr>
            <a:picLocks noChangeAspect="1"/>
          </p:cNvPicPr>
          <p:nvPr/>
        </p:nvPicPr>
        <p:blipFill>
          <a:blip r:embed="rId2"/>
          <a:stretch>
            <a:fillRect/>
          </a:stretch>
        </p:blipFill>
        <p:spPr>
          <a:xfrm rot="16200000">
            <a:off x="2667000" y="-2666999"/>
            <a:ext cx="6858001" cy="12192000"/>
          </a:xfrm>
          <a:prstGeom prst="rect">
            <a:avLst/>
          </a:prstGeom>
        </p:spPr>
      </p:pic>
      <p:sp>
        <p:nvSpPr>
          <p:cNvPr id="6" name="CaixaDeTexto 5">
            <a:extLst>
              <a:ext uri="{FF2B5EF4-FFF2-40B4-BE49-F238E27FC236}">
                <a16:creationId xmlns:a16="http://schemas.microsoft.com/office/drawing/2014/main" id="{66F3942C-0C0B-8AA8-4DCF-5A9D34C15BC3}"/>
              </a:ext>
            </a:extLst>
          </p:cNvPr>
          <p:cNvSpPr txBox="1"/>
          <p:nvPr/>
        </p:nvSpPr>
        <p:spPr>
          <a:xfrm>
            <a:off x="240506" y="341709"/>
            <a:ext cx="4593432" cy="523220"/>
          </a:xfrm>
          <a:prstGeom prst="rect">
            <a:avLst/>
          </a:prstGeom>
          <a:noFill/>
        </p:spPr>
        <p:txBody>
          <a:bodyPr wrap="square" rtlCol="0">
            <a:spAutoFit/>
          </a:bodyPr>
          <a:lstStyle/>
          <a:p>
            <a:pPr algn="l"/>
            <a:r>
              <a:rPr lang="pt-PT" sz="2800" dirty="0">
                <a:solidFill>
                  <a:schemeClr val="accent3"/>
                </a:solidFill>
              </a:rPr>
              <a:t>Considerações Finais</a:t>
            </a:r>
          </a:p>
        </p:txBody>
      </p:sp>
      <p:sp>
        <p:nvSpPr>
          <p:cNvPr id="7" name="CaixaDeTexto 6">
            <a:extLst>
              <a:ext uri="{FF2B5EF4-FFF2-40B4-BE49-F238E27FC236}">
                <a16:creationId xmlns:a16="http://schemas.microsoft.com/office/drawing/2014/main" id="{98C9F18B-1B17-5C17-D2AD-0DC6F9B6DA81}"/>
              </a:ext>
            </a:extLst>
          </p:cNvPr>
          <p:cNvSpPr txBox="1"/>
          <p:nvPr/>
        </p:nvSpPr>
        <p:spPr>
          <a:xfrm>
            <a:off x="240506" y="864929"/>
            <a:ext cx="11710987" cy="4708981"/>
          </a:xfrm>
          <a:prstGeom prst="rect">
            <a:avLst/>
          </a:prstGeom>
          <a:noFill/>
        </p:spPr>
        <p:txBody>
          <a:bodyPr wrap="square" rtlCol="0">
            <a:spAutoFit/>
          </a:bodyPr>
          <a:lstStyle/>
          <a:p>
            <a:pPr algn="just"/>
            <a:r>
              <a:rPr lang="pt-PT" sz="2000" b="1" dirty="0">
                <a:solidFill>
                  <a:schemeClr val="bg1"/>
                </a:solidFill>
              </a:rPr>
              <a:t>Este trabalho buscou demonstrar que os Direitos Humanos constituem um eixo central e dinâmico do Direito Internacional Público contemporâneo. Desde o marco histórico da Declaração Universal de 1948, consolidou-se um robusto, embora imperfeito, sistema normativo e institucional de proteção, assentado em princípios de universalidade e dignidade. A análise revelou a dupla natureza desses direitos: são simultaneamente expressão de valores éticos universais e normas jurídicas vinculantes, muitas com caráter imperativo. Os sistemas global e regionais, com seus múltiplos mecanismos de monitoramento e adjudicação, representam uma tentativa ímpar da comunidade internacional de submeter o poder estatal a padrões comuns de legitimidade. Contudo, como evidenciado nos desafios atuais, a efetividade desse sistema continua a ser testada por forças geopolíticas, novas ameaças tecnológicas e crises humanitárias. O futuro da proteção internacional dos Direitos Humanos dependerá da capacidade de adaptação das instituições, do fortalecimento da cooperação internacional e, sobretudo, da renovada vontade política dos Estados em cumprir as obrigações que livremente assumiram. A luta pela plena realização dos Direitos Humanos permanece, assim, uma tarefa inacabada e essencial para a construção de uma ordem internacional mais justa e pacífica.</a:t>
            </a:r>
          </a:p>
        </p:txBody>
      </p:sp>
    </p:spTree>
    <p:extLst>
      <p:ext uri="{BB962C8B-B14F-4D97-AF65-F5344CB8AC3E}">
        <p14:creationId xmlns:p14="http://schemas.microsoft.com/office/powerpoint/2010/main" val="3173975799"/>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theme/theme1.xml><?xml version="1.0" encoding="utf-8"?>
<a:theme xmlns:a="http://schemas.openxmlformats.org/drawingml/2006/main" name="Faceta">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Ecrã Panorâmico</PresentationFormat>
  <Slides>10</Slides>
  <Notes>1</Notes>
  <HiddenSlides>0</HiddenSlides>
  <ScaleCrop>false</ScaleCrop>
  <HeadingPairs>
    <vt:vector size="4" baseType="variant">
      <vt:variant>
        <vt:lpstr>Tema</vt:lpstr>
      </vt:variant>
      <vt:variant>
        <vt:i4>1</vt:i4>
      </vt:variant>
      <vt:variant>
        <vt:lpstr>Títulos dos diapositivos</vt:lpstr>
      </vt:variant>
      <vt:variant>
        <vt:i4>10</vt:i4>
      </vt:variant>
    </vt:vector>
  </HeadingPairs>
  <TitlesOfParts>
    <vt:vector size="11" baseType="lpstr">
      <vt:lpstr>Faceta</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freireelvis335@gmail.com</dc:creator>
  <cp:lastModifiedBy>freireelvis335@gmail.com</cp:lastModifiedBy>
  <cp:revision>20</cp:revision>
  <dcterms:created xsi:type="dcterms:W3CDTF">2026-01-27T18:49:13Z</dcterms:created>
  <dcterms:modified xsi:type="dcterms:W3CDTF">2026-02-03T14:35:47Z</dcterms:modified>
</cp:coreProperties>
</file>